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7" d="100"/>
          <a:sy n="97" d="100"/>
        </p:scale>
        <p:origin x="78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BE33D-AB2D-0D49-2779-E1EC3A4ED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0C3872-3833-7202-D100-946EBD307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02CDA5-18C6-02D7-BB57-C59A59901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99A-EF9B-4A21-BDA5-C09617328EF5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B5D4D7-E197-AD9F-B47A-C0D0A664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04FD-231D-5459-838A-4FE4F12E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D556-1EEF-4DBB-95C1-4BBF36CA0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247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BD19A-F32F-BC8E-F188-D4CAE271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561406-07CB-3B7E-E78E-F9B6A5D61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B32176-D550-B38A-45D0-05FEFE9A2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99A-EF9B-4A21-BDA5-C09617328EF5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56353E-5A32-587C-647D-07219E6F4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506D4F-67D1-A2CA-21D1-6952534C2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D556-1EEF-4DBB-95C1-4BBF36CA0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118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79A48B-E715-F78D-65EF-6A649F4A3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0C33A0-FA19-E180-A707-C53F5624C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5DD76B-26CC-0AA7-9AB7-EE6B2EBCA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99A-EF9B-4A21-BDA5-C09617328EF5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5D702B-B22B-AACD-9447-3F27931C3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8F3981-9B44-7A41-3C30-3AD740D0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D556-1EEF-4DBB-95C1-4BBF36CA0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305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72F13D-FD41-BD95-4795-9E8225B8D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45AB1-2679-1660-BB03-2E83909A8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B030C-6576-D198-1FA2-2CF7A7188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DE7899-EB6D-6E4D-7519-A83EC90E5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99A-EF9B-4A21-BDA5-C09617328EF5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F8016D-FEFD-AB37-C4E2-294C6DDDA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4E4D91-F0BF-1275-A3FC-36573035B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D556-1EEF-4DBB-95C1-4BBF36CA0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03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AE332D-E617-0CF4-2932-66C5B2A51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4944BE-332C-995B-632F-459418E16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8B9C0B-7377-B44D-FBD9-D3DB8E658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B938B6-2BAF-5445-3925-56CF1BE6E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F759B9-C8A2-22DA-FCF5-DE0B74705D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801768-7639-03A3-49A2-CD9BFBDD2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99A-EF9B-4A21-BDA5-C09617328EF5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0210266-90F4-45CC-51DA-28172964B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5229EBB-C05F-3FBD-11C7-30DB540F8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D556-1EEF-4DBB-95C1-4BBF36CA0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542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DE308-0A34-675F-A324-840F61051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5828D1-EAE9-FD31-8FEF-C69235343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99A-EF9B-4A21-BDA5-C09617328EF5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BA33F2-4EFF-C6F9-4B61-472C8FC81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2BFAB7-B9F6-D61B-11C0-C46908EC0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D556-1EEF-4DBB-95C1-4BBF36CA0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36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1336A38-C0F2-9B66-7EC1-88C8814E5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99A-EF9B-4A21-BDA5-C09617328EF5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84D3E82-8AB1-6E03-6C0E-DE6EEBA0F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3A0213-1C39-B0F3-6F0B-6C71E192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D556-1EEF-4DBB-95C1-4BBF36CA0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799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6B732D-2AE7-CAFA-F33F-82428F45F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9F5D74-7020-18A4-85DA-DD93AAD3E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DFB875-C3AD-8EEA-F1E7-56C120A17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A46029-8C86-F985-6BE2-08071A0D1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99A-EF9B-4A21-BDA5-C09617328EF5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8B0FB4-E370-C6F8-D39F-FFDEDB8D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D30DD2-2397-BEE9-4151-9ADCD47C7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D556-1EEF-4DBB-95C1-4BBF36CA0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8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7E7B9-B220-CA42-9BDA-DDB8735E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C2EE38-2994-9CD5-BB66-FFB341DB9F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56A58B-1E57-964D-29CB-90B6AEA7E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DF1D0D-C2B7-8961-3998-71873C519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99A-EF9B-4A21-BDA5-C09617328EF5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4E19B4-4C6A-031B-B928-E79F8290F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F833D6-89C4-8DAB-4153-095B8181B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D556-1EEF-4DBB-95C1-4BBF36CA0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168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D5EF0D-2CF2-F350-8F44-1C3BAAA0E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1F9609-2BB5-0F47-4D6E-ABDCC6074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BC8342-90CA-D852-A052-35217E1F9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99A-EF9B-4A21-BDA5-C09617328EF5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0402F4-27F7-6EFB-A244-626E5C303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6BE38F-5D8A-9992-FB19-17898618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D556-1EEF-4DBB-95C1-4BBF36CA0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904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D570DB-C629-D0C7-4B59-0F4CB4D3D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0F2400-8283-D609-4F52-45E710279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581E08-A886-F93F-B087-7A2DD0830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E99A-EF9B-4A21-BDA5-C09617328EF5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B446D8-1C07-1548-47D5-F4E9CDE69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B66985-700D-542A-042F-D1170E11B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D556-1EEF-4DBB-95C1-4BBF36CA0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01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5AF33EC-3B57-3472-5163-A488F4C92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2799A2-8A47-D714-FB01-8D9B524E8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A4F3CC-31F3-93E9-B7F1-6D1C0FCE6A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5CE99A-EF9B-4A21-BDA5-C09617328EF5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9C0149-DBB1-88B5-471A-9CE5EE5E44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4C84C8-44C8-74EE-A167-6087CF1469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FAD556-1EEF-4DBB-95C1-4BBF36CA05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25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FBC113-5706-61BD-78F1-6750515634CD}"/>
              </a:ext>
            </a:extLst>
          </p:cNvPr>
          <p:cNvSpPr txBox="1"/>
          <p:nvPr/>
        </p:nvSpPr>
        <p:spPr bwMode="gray">
          <a:xfrm>
            <a:off x="156760" y="132697"/>
            <a:ext cx="5711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>
                <a:latin typeface="+mn-ea"/>
                <a:cs typeface="KoPubWorld돋움체_Pro Medium" panose="00000600000000000000" pitchFamily="50" charset="-127"/>
              </a:rPr>
              <a:t>개정 이력</a:t>
            </a:r>
            <a:endParaRPr lang="en-US" altLang="ko-KR" sz="1400" b="1">
              <a:latin typeface="+mn-ea"/>
              <a:cs typeface="KoPubWorld돋움체_Pro Medium" panose="00000600000000000000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A2F16BF-2FC1-C475-DE18-2728BF8F0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432496"/>
              </p:ext>
            </p:extLst>
          </p:nvPr>
        </p:nvGraphicFramePr>
        <p:xfrm>
          <a:off x="301881" y="583086"/>
          <a:ext cx="11727932" cy="283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3521">
                  <a:extLst>
                    <a:ext uri="{9D8B030D-6E8A-4147-A177-3AD203B41FA5}">
                      <a16:colId xmlns:a16="http://schemas.microsoft.com/office/drawing/2014/main" val="2682272060"/>
                    </a:ext>
                  </a:extLst>
                </a:gridCol>
                <a:gridCol w="1199626">
                  <a:extLst>
                    <a:ext uri="{9D8B030D-6E8A-4147-A177-3AD203B41FA5}">
                      <a16:colId xmlns:a16="http://schemas.microsoft.com/office/drawing/2014/main" val="402501209"/>
                    </a:ext>
                  </a:extLst>
                </a:gridCol>
                <a:gridCol w="7751427">
                  <a:extLst>
                    <a:ext uri="{9D8B030D-6E8A-4147-A177-3AD203B41FA5}">
                      <a16:colId xmlns:a16="http://schemas.microsoft.com/office/drawing/2014/main" val="2327685128"/>
                    </a:ext>
                  </a:extLst>
                </a:gridCol>
                <a:gridCol w="903079">
                  <a:extLst>
                    <a:ext uri="{9D8B030D-6E8A-4147-A177-3AD203B41FA5}">
                      <a16:colId xmlns:a16="http://schemas.microsoft.com/office/drawing/2014/main" val="1244294506"/>
                    </a:ext>
                  </a:extLst>
                </a:gridCol>
                <a:gridCol w="590161">
                  <a:extLst>
                    <a:ext uri="{9D8B030D-6E8A-4147-A177-3AD203B41FA5}">
                      <a16:colId xmlns:a16="http://schemas.microsoft.com/office/drawing/2014/main" val="1872112910"/>
                    </a:ext>
                  </a:extLst>
                </a:gridCol>
                <a:gridCol w="520118">
                  <a:extLst>
                    <a:ext uri="{9D8B030D-6E8A-4147-A177-3AD203B41FA5}">
                      <a16:colId xmlns:a16="http://schemas.microsoft.com/office/drawing/2014/main" val="1393592703"/>
                    </a:ext>
                  </a:extLst>
                </a:gridCol>
              </a:tblGrid>
              <a:tr h="1887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900" spc="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  <a:endParaRPr lang="en-US" altLang="ko-KR" sz="800" b="0" i="0" u="none" strike="noStrike" kern="900" spc="0" baseline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900" spc="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  <a:endParaRPr lang="en-US" altLang="ko-KR" sz="800" b="0" i="0" u="none" strike="noStrike" kern="900" spc="0" baseline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900" spc="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lang="en-US" altLang="ko-KR" sz="800" b="0" i="0" u="none" strike="noStrike" kern="900" spc="0" baseline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900" spc="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이슈 사항</a:t>
                      </a:r>
                      <a:endParaRPr lang="en-US" altLang="ko-KR" sz="800" b="0" i="0" u="none" strike="noStrike" kern="900" spc="0" baseline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900" spc="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  <a:endParaRPr lang="en-US" altLang="ko-KR" sz="800" b="0" i="0" u="none" strike="noStrike" kern="900" spc="0" baseline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900" spc="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승인자</a:t>
                      </a:r>
                      <a:endParaRPr lang="en-US" altLang="ko-KR" sz="800" b="0" i="0" u="none" strike="noStrike" kern="900" spc="0" baseline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31058"/>
                  </a:ext>
                </a:extLst>
              </a:tr>
              <a:tr h="2637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2024-02-15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초안작성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b="1" i="0" u="none" strike="noStrike" noProof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203592"/>
                  </a:ext>
                </a:extLst>
              </a:tr>
              <a:tr h="2637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2024-02-22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리뷰 협의 진행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b="1" i="0" u="none" strike="noStrike" noProof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554219"/>
                  </a:ext>
                </a:extLst>
              </a:tr>
              <a:tr h="2637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2024-03-07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리뷰 후 수정사항 진행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b="1" i="0" u="none" strike="noStrike" noProof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08338"/>
                  </a:ext>
                </a:extLst>
              </a:tr>
              <a:tr h="2637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2024-03-08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리뷰 후 수정사항 진행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b="1" i="0" u="none" strike="noStrike" noProof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771787"/>
                  </a:ext>
                </a:extLst>
              </a:tr>
              <a:tr h="2637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2024-03-11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리뷰 후 수정사항 진행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b="1" i="0" u="none" strike="noStrike" noProof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361589"/>
                  </a:ext>
                </a:extLst>
              </a:tr>
              <a:tr h="2637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2024-03-12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리뷰 후 수정사항 진행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b="1" i="0" u="none" strike="noStrike" noProof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463477"/>
                  </a:ext>
                </a:extLst>
              </a:tr>
              <a:tr h="2637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2024-03-19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디자인 리뷰 후 수정사항 진행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b="1" i="0" u="none" strike="noStrike" noProof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183988"/>
                  </a:ext>
                </a:extLst>
              </a:tr>
              <a:tr h="2637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2024-03-27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마이페이지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결제내역 전체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계좌이체 탭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생성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추가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(9~11p)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b="1" i="0" u="none" strike="noStrike" noProof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900298"/>
                  </a:ext>
                </a:extLst>
              </a:tr>
              <a:tr h="2637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noProof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b="1" i="0" u="none" strike="noStrike" noProof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365459"/>
                  </a:ext>
                </a:extLst>
              </a:tr>
              <a:tr h="2637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noProof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b="1" i="0" u="none" strike="noStrike" noProof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729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2482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D43A73-D620-A9BE-1907-6CE23389A780}"/>
              </a:ext>
            </a:extLst>
          </p:cNvPr>
          <p:cNvSpPr txBox="1"/>
          <p:nvPr/>
        </p:nvSpPr>
        <p:spPr>
          <a:xfrm>
            <a:off x="1157681" y="63717"/>
            <a:ext cx="5333160" cy="2016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>
              <a:defRPr/>
            </a:pPr>
            <a:r>
              <a:rPr lang="ko-KR" altLang="en-US" sz="800">
                <a:solidFill>
                  <a:prstClr val="black"/>
                </a:solidFill>
                <a:latin typeface="+mn-ea"/>
              </a:rPr>
              <a:t>계좌이체</a:t>
            </a:r>
            <a:r>
              <a:rPr lang="en-US" altLang="ko-KR" sz="80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800">
                <a:solidFill>
                  <a:prstClr val="black"/>
                </a:solidFill>
                <a:latin typeface="+mn-ea"/>
              </a:rPr>
              <a:t>고도화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40C78-C5D7-CD14-7A10-8FF8AC77C5C9}"/>
              </a:ext>
            </a:extLst>
          </p:cNvPr>
          <p:cNvSpPr txBox="1"/>
          <p:nvPr/>
        </p:nvSpPr>
        <p:spPr>
          <a:xfrm>
            <a:off x="1152008" y="276634"/>
            <a:ext cx="5364000" cy="2016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fontAlgn="ctr"/>
            <a:r>
              <a:rPr lang="ko-KR" altLang="en-US" sz="800">
                <a:solidFill>
                  <a:srgbClr val="000000"/>
                </a:solidFill>
                <a:latin typeface="+mn-ea"/>
              </a:rPr>
              <a:t>홈 </a:t>
            </a:r>
            <a:r>
              <a:rPr lang="en-US" altLang="ko-KR" sz="800">
                <a:solidFill>
                  <a:srgbClr val="000000"/>
                </a:solidFill>
                <a:latin typeface="+mn-ea"/>
              </a:rPr>
              <a:t>&gt; </a:t>
            </a:r>
            <a:r>
              <a:rPr lang="ko-KR" altLang="en-US" sz="800">
                <a:solidFill>
                  <a:srgbClr val="000000"/>
                </a:solidFill>
                <a:latin typeface="+mn-ea"/>
              </a:rPr>
              <a:t>바로구매 </a:t>
            </a:r>
            <a:r>
              <a:rPr lang="en-US" altLang="ko-KR" sz="800">
                <a:solidFill>
                  <a:srgbClr val="000000"/>
                </a:solidFill>
                <a:latin typeface="+mn-ea"/>
              </a:rPr>
              <a:t>&gt; </a:t>
            </a:r>
            <a:r>
              <a:rPr lang="ko-KR" altLang="en-US" sz="800">
                <a:solidFill>
                  <a:srgbClr val="000000"/>
                </a:solidFill>
                <a:latin typeface="+mn-ea"/>
              </a:rPr>
              <a:t>결제상세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BACEC4-B073-2BFE-7E5D-A7858802538A}"/>
              </a:ext>
            </a:extLst>
          </p:cNvPr>
          <p:cNvSpPr/>
          <p:nvPr/>
        </p:nvSpPr>
        <p:spPr>
          <a:xfrm>
            <a:off x="3481044" y="933235"/>
            <a:ext cx="2144872" cy="34630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ysClr val="windowText" lastClr="000000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92BD3C9-D433-4069-5B3D-D9E6F4C319EC}"/>
              </a:ext>
            </a:extLst>
          </p:cNvPr>
          <p:cNvSpPr/>
          <p:nvPr/>
        </p:nvSpPr>
        <p:spPr>
          <a:xfrm>
            <a:off x="3632406" y="1769204"/>
            <a:ext cx="1842149" cy="1064919"/>
          </a:xfrm>
          <a:prstGeom prst="roundRect">
            <a:avLst>
              <a:gd name="adj" fmla="val 817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ysClr val="windowText" lastClr="000000"/>
              </a:solidFill>
            </a:endParaRP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6AA80867-8D48-E4F8-9EF8-C20B6B4EB39F}"/>
              </a:ext>
            </a:extLst>
          </p:cNvPr>
          <p:cNvSpPr/>
          <p:nvPr/>
        </p:nvSpPr>
        <p:spPr>
          <a:xfrm>
            <a:off x="3632406" y="1769204"/>
            <a:ext cx="1842148" cy="219959"/>
          </a:xfrm>
          <a:prstGeom prst="round2SameRect">
            <a:avLst>
              <a:gd name="adj1" fmla="val 34843"/>
              <a:gd name="adj2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700">
                <a:solidFill>
                  <a:schemeClr val="tx1"/>
                </a:solidFill>
              </a:rPr>
              <a:t>계좌이체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EC3D21-B4B3-9C8F-F7F0-14D91866C5D4}"/>
              </a:ext>
            </a:extLst>
          </p:cNvPr>
          <p:cNvSpPr txBox="1"/>
          <p:nvPr/>
        </p:nvSpPr>
        <p:spPr>
          <a:xfrm>
            <a:off x="3642048" y="2082970"/>
            <a:ext cx="17658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srgbClr val="00B050"/>
                </a:solidFill>
                <a:latin typeface="+mn-ea"/>
              </a:rPr>
              <a:t>하나은행 </a:t>
            </a:r>
            <a:r>
              <a:rPr lang="en-US" altLang="ko-KR" sz="800">
                <a:solidFill>
                  <a:srgbClr val="00B050"/>
                </a:solidFill>
                <a:latin typeface="+mn-ea"/>
              </a:rPr>
              <a:t>148-916009-00000</a:t>
            </a:r>
            <a:endParaRPr kumimoji="0" lang="en-US" altLang="ko-KR" sz="800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F8498D-C11A-D99B-07BB-ED8210F0F6D5}"/>
              </a:ext>
            </a:extLst>
          </p:cNvPr>
          <p:cNvSpPr txBox="1"/>
          <p:nvPr/>
        </p:nvSpPr>
        <p:spPr>
          <a:xfrm>
            <a:off x="4047370" y="2358519"/>
            <a:ext cx="10122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0 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원</a:t>
            </a:r>
            <a:endParaRPr kumimoji="0" lang="en-US" altLang="ko-KR" sz="10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F9563F-4250-050F-0A1A-1BCC58A7EE7F}"/>
              </a:ext>
            </a:extLst>
          </p:cNvPr>
          <p:cNvSpPr txBox="1"/>
          <p:nvPr/>
        </p:nvSpPr>
        <p:spPr>
          <a:xfrm>
            <a:off x="3673559" y="1781119"/>
            <a:ext cx="7718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sorin.com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136C54-853C-64EB-81FD-CD56B76AA6E6}"/>
              </a:ext>
            </a:extLst>
          </p:cNvPr>
          <p:cNvGrpSpPr/>
          <p:nvPr/>
        </p:nvGrpSpPr>
        <p:grpSpPr>
          <a:xfrm>
            <a:off x="3658398" y="3962387"/>
            <a:ext cx="1841566" cy="252809"/>
            <a:chOff x="4936473" y="6113299"/>
            <a:chExt cx="1841566" cy="25280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697E43C-04B8-DE07-AD8A-330D920CF77E}"/>
                </a:ext>
              </a:extLst>
            </p:cNvPr>
            <p:cNvSpPr/>
            <p:nvPr/>
          </p:nvSpPr>
          <p:spPr>
            <a:xfrm>
              <a:off x="4936473" y="6113299"/>
              <a:ext cx="803383" cy="252809"/>
            </a:xfrm>
            <a:prstGeom prst="rect">
              <a:avLst/>
            </a:prstGeom>
            <a:noFill/>
            <a:ln w="3175"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>
                  <a:solidFill>
                    <a:sysClr val="windowText" lastClr="000000"/>
                  </a:solidFill>
                </a:rPr>
                <a:t>주문내역보기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1A06A32-9D63-1EA0-77D5-3713F04221A2}"/>
                </a:ext>
              </a:extLst>
            </p:cNvPr>
            <p:cNvSpPr/>
            <p:nvPr/>
          </p:nvSpPr>
          <p:spPr>
            <a:xfrm>
              <a:off x="5792914" y="6113299"/>
              <a:ext cx="985125" cy="252809"/>
            </a:xfrm>
            <a:prstGeom prst="rect">
              <a:avLst/>
            </a:prstGeom>
            <a:solidFill>
              <a:srgbClr val="0066FF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</a:rPr>
                <a:t>바로 구매하기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98F4B26-9748-5AA5-235C-715D95009012}"/>
              </a:ext>
            </a:extLst>
          </p:cNvPr>
          <p:cNvGrpSpPr/>
          <p:nvPr/>
        </p:nvGrpSpPr>
        <p:grpSpPr>
          <a:xfrm>
            <a:off x="3626184" y="3368082"/>
            <a:ext cx="1939780" cy="200210"/>
            <a:chOff x="5626489" y="4684206"/>
            <a:chExt cx="1939780" cy="2002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09D7729-FB32-907C-F7BB-C95B6628975D}"/>
                </a:ext>
              </a:extLst>
            </p:cNvPr>
            <p:cNvSpPr txBox="1"/>
            <p:nvPr/>
          </p:nvSpPr>
          <p:spPr>
            <a:xfrm>
              <a:off x="5626489" y="4684361"/>
              <a:ext cx="84475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mbria"/>
                  <a:ea typeface="맑은 고딕" panose="020B0503020000020004" pitchFamily="50" charset="-127"/>
                  <a:cs typeface="+mn-cs"/>
                </a:rPr>
                <a:t>총 결제금액</a:t>
              </a:r>
              <a:endPara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8D326F08-E3BA-CBDA-AC4E-B147FB510B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205"/>
            <a:stretch/>
          </p:blipFill>
          <p:spPr>
            <a:xfrm>
              <a:off x="6219568" y="4693224"/>
              <a:ext cx="391436" cy="182174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D9FB687-C499-7676-9A44-1663E5AD7CE1}"/>
                </a:ext>
              </a:extLst>
            </p:cNvPr>
            <p:cNvSpPr txBox="1"/>
            <p:nvPr/>
          </p:nvSpPr>
          <p:spPr>
            <a:xfrm>
              <a:off x="6562380" y="4684206"/>
              <a:ext cx="1003889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b="1">
                  <a:solidFill>
                    <a:sysClr val="windowText" lastClr="000000"/>
                  </a:solidFill>
                  <a:latin typeface="+mj-ea"/>
                  <a:ea typeface="+mj-ea"/>
                </a:rPr>
                <a:t>90,000,000 </a:t>
              </a:r>
              <a:r>
                <a:rPr lang="ko-KR" altLang="en-US" sz="700" b="1">
                  <a:solidFill>
                    <a:sysClr val="windowText" lastClr="000000"/>
                  </a:solidFill>
                  <a:latin typeface="+mj-ea"/>
                  <a:ea typeface="+mj-ea"/>
                </a:rPr>
                <a:t>원</a:t>
              </a:r>
              <a:endPara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28F3BA3-5208-4B8E-60D7-3EF30FB357E2}"/>
              </a:ext>
            </a:extLst>
          </p:cNvPr>
          <p:cNvCxnSpPr>
            <a:cxnSpLocks/>
          </p:cNvCxnSpPr>
          <p:nvPr/>
        </p:nvCxnSpPr>
        <p:spPr>
          <a:xfrm>
            <a:off x="3474824" y="3221244"/>
            <a:ext cx="2144872" cy="0"/>
          </a:xfrm>
          <a:prstGeom prst="lin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64B83F5-5127-75AB-C96B-C4CCA818D3FA}"/>
              </a:ext>
            </a:extLst>
          </p:cNvPr>
          <p:cNvSpPr txBox="1"/>
          <p:nvPr/>
        </p:nvSpPr>
        <p:spPr>
          <a:xfrm>
            <a:off x="3474824" y="1002730"/>
            <a:ext cx="84475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>
                <a:solidFill>
                  <a:sysClr val="windowText" lastClr="000000"/>
                </a:solidFill>
                <a:latin typeface="Cambria"/>
                <a:ea typeface="맑은 고딕" panose="020B0503020000020004" pitchFamily="50" charset="-127"/>
              </a:rPr>
              <a:t>결제수단 선택</a:t>
            </a:r>
            <a:endParaRPr kumimoji="0" lang="en-US" altLang="ko-KR" sz="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BC40A56-6E0F-5D66-2561-C7E7ECC0767F}"/>
              </a:ext>
            </a:extLst>
          </p:cNvPr>
          <p:cNvCxnSpPr/>
          <p:nvPr/>
        </p:nvCxnSpPr>
        <p:spPr>
          <a:xfrm>
            <a:off x="3481044" y="1275174"/>
            <a:ext cx="2144872" cy="0"/>
          </a:xfrm>
          <a:prstGeom prst="lin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9A5F00C6-B5B4-A45D-97AB-7F3A2B7C3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02" y="1328469"/>
            <a:ext cx="3009588" cy="736041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A506D3C1-27C4-26B7-0F2A-46805BEB38FD}"/>
              </a:ext>
            </a:extLst>
          </p:cNvPr>
          <p:cNvSpPr/>
          <p:nvPr/>
        </p:nvSpPr>
        <p:spPr>
          <a:xfrm>
            <a:off x="2142888" y="1541386"/>
            <a:ext cx="980661" cy="455465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3BF16244-D1DA-F321-0ED7-944F8A73AD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281" t="37862" b="19543"/>
          <a:stretch/>
        </p:blipFill>
        <p:spPr>
          <a:xfrm>
            <a:off x="289050" y="2672855"/>
            <a:ext cx="2667491" cy="84929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5C309846-6517-5A41-1206-6DEAC77C9033}"/>
              </a:ext>
            </a:extLst>
          </p:cNvPr>
          <p:cNvSpPr/>
          <p:nvPr/>
        </p:nvSpPr>
        <p:spPr>
          <a:xfrm>
            <a:off x="430562" y="2588239"/>
            <a:ext cx="2384465" cy="1018521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5995B0-2515-7DC0-A2D4-5860797B2E2D}"/>
              </a:ext>
            </a:extLst>
          </p:cNvPr>
          <p:cNvSpPr txBox="1"/>
          <p:nvPr/>
        </p:nvSpPr>
        <p:spPr>
          <a:xfrm>
            <a:off x="3474823" y="627772"/>
            <a:ext cx="14588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[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충전금이 없을 시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50F27E-B97B-F179-ACFC-C647C651335C}"/>
              </a:ext>
            </a:extLst>
          </p:cNvPr>
          <p:cNvSpPr txBox="1"/>
          <p:nvPr/>
        </p:nvSpPr>
        <p:spPr>
          <a:xfrm>
            <a:off x="118002" y="1050502"/>
            <a:ext cx="30158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[AS-IS 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동일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-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주문하기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]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5A074A65-35C7-90C3-1226-EAD25557B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166971"/>
              </p:ext>
            </p:extLst>
          </p:nvPr>
        </p:nvGraphicFramePr>
        <p:xfrm>
          <a:off x="9329972" y="683966"/>
          <a:ext cx="2794470" cy="236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계좌이체 탭 영역 추가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결제수단 계좌이체 고객 해당 탭 활성화 상태로 노출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계좌이체 외 탭 선택 시 </a:t>
                      </a: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Alert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안내</a:t>
                      </a: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800" b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선택되지않음</a:t>
                      </a: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2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계좌이체 카드섹션 영역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고정식 가상계좌번호 노출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금액 노출 </a:t>
                      </a: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현재 충전 되어있는 금액 노출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[2-1]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800" b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새로고침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 버튼 제공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선택 시 배치 진행 하여 입금액 갱신 진행 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009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3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클레임 및 약관동의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클레임 정보 및 결제대행 약관 미 선택 시 </a:t>
                      </a: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Alert “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이용약관에 동의해주세요</a:t>
                      </a: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”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계좌이체 약관 업데이트 확인 필요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828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4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바로구매하기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금액 부족 시 </a:t>
                      </a: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4-1 Alert 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호출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금액 가능 시 계약서 페이지로 이동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639255"/>
                  </a:ext>
                </a:extLst>
              </a:tr>
            </a:tbl>
          </a:graphicData>
        </a:graphic>
      </p:graphicFrame>
      <p:grpSp>
        <p:nvGrpSpPr>
          <p:cNvPr id="29" name="그룹 28">
            <a:extLst>
              <a:ext uri="{FF2B5EF4-FFF2-40B4-BE49-F238E27FC236}">
                <a16:creationId xmlns:a16="http://schemas.microsoft.com/office/drawing/2014/main" id="{84702988-83BD-F979-9C98-871A3D3122C8}"/>
              </a:ext>
            </a:extLst>
          </p:cNvPr>
          <p:cNvGrpSpPr/>
          <p:nvPr/>
        </p:nvGrpSpPr>
        <p:grpSpPr>
          <a:xfrm>
            <a:off x="3632406" y="1410948"/>
            <a:ext cx="1838493" cy="223339"/>
            <a:chOff x="3632406" y="1832264"/>
            <a:chExt cx="1838493" cy="223339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A26B13C-CFDC-AFC5-BFD0-F5B38A6507A6}"/>
                </a:ext>
              </a:extLst>
            </p:cNvPr>
            <p:cNvSpPr/>
            <p:nvPr/>
          </p:nvSpPr>
          <p:spPr>
            <a:xfrm>
              <a:off x="3632406" y="1832264"/>
              <a:ext cx="612569" cy="223339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700">
                  <a:solidFill>
                    <a:srgbClr val="0066FF"/>
                  </a:solidFill>
                </a:rPr>
                <a:t>계좌이체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92AA00AD-F1FC-2009-C416-CAF82DF8BF96}"/>
                </a:ext>
              </a:extLst>
            </p:cNvPr>
            <p:cNvCxnSpPr>
              <a:cxnSpLocks/>
            </p:cNvCxnSpPr>
            <p:nvPr/>
          </p:nvCxnSpPr>
          <p:spPr>
            <a:xfrm>
              <a:off x="3632406" y="2055603"/>
              <a:ext cx="612568" cy="0"/>
            </a:xfrm>
            <a:prstGeom prst="line">
              <a:avLst/>
            </a:prstGeom>
            <a:noFill/>
            <a:ln w="31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C6DF9477-EF67-E2F7-5A94-EB77C8FBD2FE}"/>
                </a:ext>
              </a:extLst>
            </p:cNvPr>
            <p:cNvSpPr/>
            <p:nvPr/>
          </p:nvSpPr>
          <p:spPr>
            <a:xfrm>
              <a:off x="4244974" y="1832264"/>
              <a:ext cx="612569" cy="223339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70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증거금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28096D1-595B-F714-BB39-1FFCC9C0AD83}"/>
                </a:ext>
              </a:extLst>
            </p:cNvPr>
            <p:cNvSpPr/>
            <p:nvPr/>
          </p:nvSpPr>
          <p:spPr>
            <a:xfrm>
              <a:off x="4857543" y="1832264"/>
              <a:ext cx="613356" cy="223339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700">
                  <a:solidFill>
                    <a:schemeClr val="bg1">
                      <a:lumMod val="50000"/>
                    </a:schemeClr>
                  </a:solidFill>
                </a:rPr>
                <a:t>서린크레딧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AF24819-B8F7-F103-FED6-BA941D91E597}"/>
              </a:ext>
            </a:extLst>
          </p:cNvPr>
          <p:cNvSpPr txBox="1"/>
          <p:nvPr/>
        </p:nvSpPr>
        <p:spPr>
          <a:xfrm>
            <a:off x="3626184" y="2927930"/>
            <a:ext cx="1873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ko-KR" altLang="en-US" sz="7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□ 클레임 정보 및 결제대행 서비스 이용 </a:t>
            </a:r>
            <a:endParaRPr kumimoji="0" lang="en-US" altLang="ko-KR" sz="7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  <a:p>
            <a:pPr>
              <a:defRPr/>
            </a:pPr>
            <a:r>
              <a:rPr lang="en-US" altLang="ko-KR" sz="700">
                <a:latin typeface="+mn-ea"/>
              </a:rPr>
              <a:t>    </a:t>
            </a:r>
            <a:r>
              <a:rPr kumimoji="0" lang="ko-KR" altLang="en-US" sz="7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약관에 모두 동의합니다</a:t>
            </a:r>
            <a:r>
              <a:rPr kumimoji="0" lang="en-US" altLang="ko-KR" sz="7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.  </a:t>
            </a:r>
            <a:r>
              <a:rPr kumimoji="0" lang="ko-KR" altLang="en-US" sz="700" i="0" u="sng" strike="noStrike" kern="120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n-cs"/>
              </a:rPr>
              <a:t>보기</a:t>
            </a:r>
            <a:endParaRPr kumimoji="0" lang="en-US" altLang="ko-KR" sz="700" i="0" u="sng" strike="noStrike" kern="1200" cap="none" spc="0" normalizeH="0" baseline="0" noProof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1B2DC43-9A66-2234-4765-4B0E39D4678D}"/>
              </a:ext>
            </a:extLst>
          </p:cNvPr>
          <p:cNvGrpSpPr/>
          <p:nvPr/>
        </p:nvGrpSpPr>
        <p:grpSpPr>
          <a:xfrm>
            <a:off x="5064019" y="2387647"/>
            <a:ext cx="183442" cy="151732"/>
            <a:chOff x="7324390" y="1363175"/>
            <a:chExt cx="183442" cy="151732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4407D3F-32D5-3261-86B9-5C6D5CEAA9B9}"/>
                </a:ext>
              </a:extLst>
            </p:cNvPr>
            <p:cNvSpPr/>
            <p:nvPr/>
          </p:nvSpPr>
          <p:spPr>
            <a:xfrm>
              <a:off x="7324390" y="1363175"/>
              <a:ext cx="183442" cy="1517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70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5B6D20B4-A166-06BC-ABAF-B8E450D8A5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0832" t="14970" r="14027" b="11269"/>
            <a:stretch/>
          </p:blipFill>
          <p:spPr>
            <a:xfrm>
              <a:off x="7348246" y="1383082"/>
              <a:ext cx="135731" cy="111918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D33FFC6-E074-3360-CE38-3B682162C30C}"/>
              </a:ext>
            </a:extLst>
          </p:cNvPr>
          <p:cNvSpPr txBox="1"/>
          <p:nvPr/>
        </p:nvSpPr>
        <p:spPr>
          <a:xfrm>
            <a:off x="3474822" y="3660306"/>
            <a:ext cx="214487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600" b="0" i="0">
                <a:solidFill>
                  <a:srgbClr val="E30505"/>
                </a:solidFill>
                <a:effectLst/>
                <a:latin typeface="+mn-ea"/>
              </a:rPr>
              <a:t>위 주문 내용을 확인하였으며</a:t>
            </a:r>
            <a:r>
              <a:rPr lang="en-US" altLang="ko-KR" sz="600" b="0" i="0">
                <a:solidFill>
                  <a:srgbClr val="E30505"/>
                </a:solidFill>
                <a:effectLst/>
                <a:latin typeface="+mn-ea"/>
              </a:rPr>
              <a:t>, </a:t>
            </a:r>
            <a:r>
              <a:rPr lang="ko-KR" altLang="en-US" sz="600" b="0" i="0">
                <a:solidFill>
                  <a:srgbClr val="E30505"/>
                </a:solidFill>
                <a:effectLst/>
                <a:latin typeface="+mn-ea"/>
              </a:rPr>
              <a:t>결제에 동의합니다</a:t>
            </a:r>
            <a:r>
              <a:rPr lang="en-US" altLang="ko-KR" sz="600" b="0" i="0">
                <a:solidFill>
                  <a:srgbClr val="E30505"/>
                </a:solidFill>
                <a:effectLst/>
                <a:latin typeface="+mn-ea"/>
              </a:rPr>
              <a:t>.</a:t>
            </a:r>
            <a:endParaRPr lang="ko-KR" altLang="en-US" sz="600">
              <a:latin typeface="+mn-ea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14155ED-1413-44EA-3147-23D51C459815}"/>
              </a:ext>
            </a:extLst>
          </p:cNvPr>
          <p:cNvSpPr/>
          <p:nvPr/>
        </p:nvSpPr>
        <p:spPr>
          <a:xfrm>
            <a:off x="5966929" y="933235"/>
            <a:ext cx="2144872" cy="34630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ysClr val="windowText" lastClr="000000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6CE61B3-609D-D45C-8436-A51DA0DB5148}"/>
              </a:ext>
            </a:extLst>
          </p:cNvPr>
          <p:cNvSpPr/>
          <p:nvPr/>
        </p:nvSpPr>
        <p:spPr>
          <a:xfrm>
            <a:off x="6118291" y="1769204"/>
            <a:ext cx="1842149" cy="1064919"/>
          </a:xfrm>
          <a:prstGeom prst="roundRect">
            <a:avLst>
              <a:gd name="adj" fmla="val 817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ysClr val="windowText" lastClr="000000"/>
              </a:solidFill>
            </a:endParaRPr>
          </a:p>
        </p:txBody>
      </p:sp>
      <p:sp>
        <p:nvSpPr>
          <p:cNvPr id="41" name="사각형: 둥근 위쪽 모서리 40">
            <a:extLst>
              <a:ext uri="{FF2B5EF4-FFF2-40B4-BE49-F238E27FC236}">
                <a16:creationId xmlns:a16="http://schemas.microsoft.com/office/drawing/2014/main" id="{5EA8DA75-BC4B-004E-8B43-EA7B7727A9F8}"/>
              </a:ext>
            </a:extLst>
          </p:cNvPr>
          <p:cNvSpPr/>
          <p:nvPr/>
        </p:nvSpPr>
        <p:spPr>
          <a:xfrm>
            <a:off x="6118291" y="1769204"/>
            <a:ext cx="1842148" cy="219959"/>
          </a:xfrm>
          <a:prstGeom prst="round2SameRect">
            <a:avLst>
              <a:gd name="adj1" fmla="val 34843"/>
              <a:gd name="adj2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700">
                <a:solidFill>
                  <a:schemeClr val="tx1"/>
                </a:solidFill>
              </a:rPr>
              <a:t>계좌이체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B94516-883E-D617-2299-EB5D3934EACC}"/>
              </a:ext>
            </a:extLst>
          </p:cNvPr>
          <p:cNvSpPr txBox="1"/>
          <p:nvPr/>
        </p:nvSpPr>
        <p:spPr>
          <a:xfrm>
            <a:off x="6127933" y="2082970"/>
            <a:ext cx="17658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solidFill>
                  <a:srgbClr val="00B050"/>
                </a:solidFill>
                <a:latin typeface="+mn-ea"/>
              </a:rPr>
              <a:t>하나은행 </a:t>
            </a:r>
            <a:r>
              <a:rPr lang="en-US" altLang="ko-KR" sz="800">
                <a:solidFill>
                  <a:srgbClr val="00B050"/>
                </a:solidFill>
                <a:latin typeface="+mn-ea"/>
              </a:rPr>
              <a:t>148-916009-00000</a:t>
            </a:r>
            <a:endParaRPr kumimoji="0" lang="en-US" altLang="ko-KR" sz="800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22E337-3D0F-76C5-B7BF-AA0B5361385E}"/>
              </a:ext>
            </a:extLst>
          </p:cNvPr>
          <p:cNvSpPr txBox="1"/>
          <p:nvPr/>
        </p:nvSpPr>
        <p:spPr>
          <a:xfrm>
            <a:off x="6445256" y="2358519"/>
            <a:ext cx="1188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100,000,000 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원</a:t>
            </a:r>
            <a:endParaRPr kumimoji="0" lang="en-US" altLang="ko-KR" sz="10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7D1606-7E85-C4D1-C0B0-D0439322B867}"/>
              </a:ext>
            </a:extLst>
          </p:cNvPr>
          <p:cNvSpPr txBox="1"/>
          <p:nvPr/>
        </p:nvSpPr>
        <p:spPr>
          <a:xfrm>
            <a:off x="6159444" y="1781119"/>
            <a:ext cx="7718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sorin.com</a:t>
            </a:r>
            <a:endParaRPr kumimoji="0" lang="ko-KR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003D743-6440-647E-52E6-103F3DA0AFC2}"/>
              </a:ext>
            </a:extLst>
          </p:cNvPr>
          <p:cNvGrpSpPr/>
          <p:nvPr/>
        </p:nvGrpSpPr>
        <p:grpSpPr>
          <a:xfrm>
            <a:off x="6144283" y="3962387"/>
            <a:ext cx="1841566" cy="252809"/>
            <a:chOff x="4936473" y="6113299"/>
            <a:chExt cx="1841566" cy="252809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DA8BF72F-10AD-E5EA-20C7-E8F65F8EBDC1}"/>
                </a:ext>
              </a:extLst>
            </p:cNvPr>
            <p:cNvSpPr/>
            <p:nvPr/>
          </p:nvSpPr>
          <p:spPr>
            <a:xfrm>
              <a:off x="4936473" y="6113299"/>
              <a:ext cx="803383" cy="252809"/>
            </a:xfrm>
            <a:prstGeom prst="rect">
              <a:avLst/>
            </a:prstGeom>
            <a:noFill/>
            <a:ln w="3175"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>
                  <a:solidFill>
                    <a:sysClr val="windowText" lastClr="000000"/>
                  </a:solidFill>
                </a:rPr>
                <a:t>주문내역보기</a:t>
              </a: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4C203E1D-648D-0172-5667-CDD845B9969E}"/>
                </a:ext>
              </a:extLst>
            </p:cNvPr>
            <p:cNvSpPr/>
            <p:nvPr/>
          </p:nvSpPr>
          <p:spPr>
            <a:xfrm>
              <a:off x="5792914" y="6113299"/>
              <a:ext cx="985125" cy="252809"/>
            </a:xfrm>
            <a:prstGeom prst="rect">
              <a:avLst/>
            </a:prstGeom>
            <a:solidFill>
              <a:srgbClr val="0066FF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>
                  <a:solidFill>
                    <a:schemeClr val="bg1"/>
                  </a:solidFill>
                </a:rPr>
                <a:t>바로 구매하기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3128069E-ECD4-0519-748A-15400D155569}"/>
              </a:ext>
            </a:extLst>
          </p:cNvPr>
          <p:cNvGrpSpPr/>
          <p:nvPr/>
        </p:nvGrpSpPr>
        <p:grpSpPr>
          <a:xfrm>
            <a:off x="6112069" y="3368082"/>
            <a:ext cx="1939780" cy="200210"/>
            <a:chOff x="5626489" y="4684206"/>
            <a:chExt cx="1939780" cy="200210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5BBFB85-E897-DBAC-DDC5-D8D6993009E8}"/>
                </a:ext>
              </a:extLst>
            </p:cNvPr>
            <p:cNvSpPr txBox="1"/>
            <p:nvPr/>
          </p:nvSpPr>
          <p:spPr>
            <a:xfrm>
              <a:off x="5626489" y="4684361"/>
              <a:ext cx="84475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mbria"/>
                  <a:ea typeface="맑은 고딕" panose="020B0503020000020004" pitchFamily="50" charset="-127"/>
                  <a:cs typeface="+mn-cs"/>
                </a:rPr>
                <a:t>총 결제금액</a:t>
              </a:r>
              <a:endPara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0BB4B3DD-AD7A-048D-6119-F9837A2F8B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205"/>
            <a:stretch/>
          </p:blipFill>
          <p:spPr>
            <a:xfrm>
              <a:off x="6219568" y="4693224"/>
              <a:ext cx="391436" cy="182174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A8B81AF-9E53-72B1-8D88-5CB151B798DE}"/>
                </a:ext>
              </a:extLst>
            </p:cNvPr>
            <p:cNvSpPr txBox="1"/>
            <p:nvPr/>
          </p:nvSpPr>
          <p:spPr>
            <a:xfrm>
              <a:off x="6562380" y="4684206"/>
              <a:ext cx="1003889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b="1">
                  <a:solidFill>
                    <a:sysClr val="windowText" lastClr="000000"/>
                  </a:solidFill>
                  <a:latin typeface="+mj-ea"/>
                  <a:ea typeface="+mj-ea"/>
                </a:rPr>
                <a:t>90,000,000 </a:t>
              </a:r>
              <a:r>
                <a:rPr lang="ko-KR" altLang="en-US" sz="700" b="1">
                  <a:solidFill>
                    <a:sysClr val="windowText" lastClr="000000"/>
                  </a:solidFill>
                  <a:latin typeface="+mj-ea"/>
                  <a:ea typeface="+mj-ea"/>
                </a:rPr>
                <a:t>원</a:t>
              </a:r>
              <a:endParaRPr kumimoji="0" lang="en-US" altLang="ko-KR" sz="7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7F43D04E-B5AA-AE59-3B13-6D9D2E5F0E5D}"/>
              </a:ext>
            </a:extLst>
          </p:cNvPr>
          <p:cNvCxnSpPr>
            <a:cxnSpLocks/>
          </p:cNvCxnSpPr>
          <p:nvPr/>
        </p:nvCxnSpPr>
        <p:spPr>
          <a:xfrm>
            <a:off x="5960709" y="3221244"/>
            <a:ext cx="2144872" cy="0"/>
          </a:xfrm>
          <a:prstGeom prst="lin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08349848-419C-BCAA-8A5F-B8C3F0662337}"/>
              </a:ext>
            </a:extLst>
          </p:cNvPr>
          <p:cNvSpPr txBox="1"/>
          <p:nvPr/>
        </p:nvSpPr>
        <p:spPr>
          <a:xfrm>
            <a:off x="5960709" y="1002730"/>
            <a:ext cx="84475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>
                <a:solidFill>
                  <a:sysClr val="windowText" lastClr="000000"/>
                </a:solidFill>
                <a:latin typeface="Cambria"/>
                <a:ea typeface="맑은 고딕" panose="020B0503020000020004" pitchFamily="50" charset="-127"/>
              </a:rPr>
              <a:t>결제수단 선택</a:t>
            </a:r>
            <a:endParaRPr kumimoji="0" lang="en-US" altLang="ko-KR" sz="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A0BE9D9D-DA14-D9EF-25D9-7A14AC14E00F}"/>
              </a:ext>
            </a:extLst>
          </p:cNvPr>
          <p:cNvCxnSpPr/>
          <p:nvPr/>
        </p:nvCxnSpPr>
        <p:spPr>
          <a:xfrm>
            <a:off x="5966929" y="1275174"/>
            <a:ext cx="2144872" cy="0"/>
          </a:xfrm>
          <a:prstGeom prst="lin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B968329-BD70-D2D1-BE55-F5EEC2C6798C}"/>
              </a:ext>
            </a:extLst>
          </p:cNvPr>
          <p:cNvSpPr txBox="1"/>
          <p:nvPr/>
        </p:nvSpPr>
        <p:spPr>
          <a:xfrm>
            <a:off x="5960708" y="627772"/>
            <a:ext cx="17726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[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충전금이 있을 시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]</a:t>
            </a: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AB98E7A8-BC3C-7EE4-C9A9-E0745EBE6DA8}"/>
              </a:ext>
            </a:extLst>
          </p:cNvPr>
          <p:cNvGrpSpPr/>
          <p:nvPr/>
        </p:nvGrpSpPr>
        <p:grpSpPr>
          <a:xfrm>
            <a:off x="6118291" y="1410948"/>
            <a:ext cx="1838493" cy="223339"/>
            <a:chOff x="3632406" y="1832264"/>
            <a:chExt cx="1838493" cy="223339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7470C6A5-D357-FC04-669D-ACDDBAF94E2D}"/>
                </a:ext>
              </a:extLst>
            </p:cNvPr>
            <p:cNvSpPr/>
            <p:nvPr/>
          </p:nvSpPr>
          <p:spPr>
            <a:xfrm>
              <a:off x="3632406" y="1832264"/>
              <a:ext cx="612569" cy="223339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700">
                  <a:solidFill>
                    <a:srgbClr val="0066FF"/>
                  </a:solidFill>
                </a:rPr>
                <a:t>계좌이체</a:t>
              </a:r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1E4278ED-106F-2D8B-1AA9-3479225F6998}"/>
                </a:ext>
              </a:extLst>
            </p:cNvPr>
            <p:cNvCxnSpPr>
              <a:cxnSpLocks/>
            </p:cNvCxnSpPr>
            <p:nvPr/>
          </p:nvCxnSpPr>
          <p:spPr>
            <a:xfrm>
              <a:off x="3632406" y="2055603"/>
              <a:ext cx="612568" cy="0"/>
            </a:xfrm>
            <a:prstGeom prst="line">
              <a:avLst/>
            </a:prstGeom>
            <a:noFill/>
            <a:ln w="31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9156838-ACD7-2C78-C9D0-663621F7C62D}"/>
                </a:ext>
              </a:extLst>
            </p:cNvPr>
            <p:cNvSpPr/>
            <p:nvPr/>
          </p:nvSpPr>
          <p:spPr>
            <a:xfrm>
              <a:off x="4244974" y="1832264"/>
              <a:ext cx="612569" cy="223339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70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증거금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3A17DD0C-90C9-E564-06F6-35BA0EB5E3AA}"/>
                </a:ext>
              </a:extLst>
            </p:cNvPr>
            <p:cNvSpPr/>
            <p:nvPr/>
          </p:nvSpPr>
          <p:spPr>
            <a:xfrm>
              <a:off x="4857543" y="1832264"/>
              <a:ext cx="613356" cy="223339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700">
                  <a:solidFill>
                    <a:schemeClr val="bg1">
                      <a:lumMod val="50000"/>
                    </a:schemeClr>
                  </a:solidFill>
                </a:rPr>
                <a:t>서린크레딧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EE5B9943-B36C-0EB7-A414-6CE91DE7CE58}"/>
              </a:ext>
            </a:extLst>
          </p:cNvPr>
          <p:cNvSpPr txBox="1"/>
          <p:nvPr/>
        </p:nvSpPr>
        <p:spPr>
          <a:xfrm>
            <a:off x="6112069" y="2927930"/>
            <a:ext cx="1873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ko-KR" altLang="en-US" sz="7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■ 클레임 정보 및 결제대행 서비스 이용 </a:t>
            </a:r>
            <a:endParaRPr kumimoji="0" lang="en-US" altLang="ko-KR" sz="7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  <a:p>
            <a:pPr>
              <a:defRPr/>
            </a:pPr>
            <a:r>
              <a:rPr lang="en-US" altLang="ko-KR" sz="700">
                <a:latin typeface="+mn-ea"/>
              </a:rPr>
              <a:t>    </a:t>
            </a:r>
            <a:r>
              <a:rPr kumimoji="0" lang="ko-KR" altLang="en-US" sz="7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약관에 모두 동의합니다</a:t>
            </a:r>
            <a:r>
              <a:rPr kumimoji="0" lang="en-US" altLang="ko-KR" sz="7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.  </a:t>
            </a:r>
            <a:r>
              <a:rPr kumimoji="0" lang="ko-KR" altLang="en-US" sz="700" i="0" u="sng" strike="noStrike" kern="120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n-cs"/>
              </a:rPr>
              <a:t>보기</a:t>
            </a:r>
            <a:endParaRPr kumimoji="0" lang="en-US" altLang="ko-KR" sz="700" i="0" u="sng" strike="noStrike" kern="1200" cap="none" spc="0" normalizeH="0" baseline="0" noProof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1A7486C-4BD7-6D6C-A4AC-960A93DB0A3B}"/>
              </a:ext>
            </a:extLst>
          </p:cNvPr>
          <p:cNvGrpSpPr/>
          <p:nvPr/>
        </p:nvGrpSpPr>
        <p:grpSpPr>
          <a:xfrm>
            <a:off x="7549904" y="2387647"/>
            <a:ext cx="183442" cy="151732"/>
            <a:chOff x="7324390" y="1363175"/>
            <a:chExt cx="183442" cy="151732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BE85565-0276-1B44-2004-1E3D85D418B0}"/>
                </a:ext>
              </a:extLst>
            </p:cNvPr>
            <p:cNvSpPr/>
            <p:nvPr/>
          </p:nvSpPr>
          <p:spPr>
            <a:xfrm>
              <a:off x="7324390" y="1363175"/>
              <a:ext cx="183442" cy="1517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700">
                <a:solidFill>
                  <a:sysClr val="windowText" lastClr="000000"/>
                </a:solidFill>
              </a:endParaRPr>
            </a:p>
          </p:txBody>
        </p:sp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41DFF6E1-8C8C-4FD1-D91B-46291825E8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0832" t="14970" r="14027" b="11269"/>
            <a:stretch/>
          </p:blipFill>
          <p:spPr>
            <a:xfrm>
              <a:off x="7348246" y="1383082"/>
              <a:ext cx="135731" cy="111918"/>
            </a:xfrm>
            <a:prstGeom prst="rect">
              <a:avLst/>
            </a:prstGeom>
          </p:spPr>
        </p:pic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2903C38F-1F1C-CA01-1777-A5EBAE158B32}"/>
              </a:ext>
            </a:extLst>
          </p:cNvPr>
          <p:cNvSpPr txBox="1"/>
          <p:nvPr/>
        </p:nvSpPr>
        <p:spPr>
          <a:xfrm>
            <a:off x="5960707" y="3660306"/>
            <a:ext cx="214487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600" b="0" i="0">
                <a:solidFill>
                  <a:srgbClr val="E30505"/>
                </a:solidFill>
                <a:effectLst/>
                <a:latin typeface="+mn-ea"/>
              </a:rPr>
              <a:t>위 주문 내용을 확인하였으며</a:t>
            </a:r>
            <a:r>
              <a:rPr lang="en-US" altLang="ko-KR" sz="600" b="0" i="0">
                <a:solidFill>
                  <a:srgbClr val="E30505"/>
                </a:solidFill>
                <a:effectLst/>
                <a:latin typeface="+mn-ea"/>
              </a:rPr>
              <a:t>, </a:t>
            </a:r>
            <a:r>
              <a:rPr lang="ko-KR" altLang="en-US" sz="600" b="0" i="0">
                <a:solidFill>
                  <a:srgbClr val="E30505"/>
                </a:solidFill>
                <a:effectLst/>
                <a:latin typeface="+mn-ea"/>
              </a:rPr>
              <a:t>결제에 동의합니다</a:t>
            </a:r>
            <a:r>
              <a:rPr lang="en-US" altLang="ko-KR" sz="600" b="0" i="0">
                <a:solidFill>
                  <a:srgbClr val="E30505"/>
                </a:solidFill>
                <a:effectLst/>
                <a:latin typeface="+mn-ea"/>
              </a:rPr>
              <a:t>.</a:t>
            </a:r>
            <a:endParaRPr lang="ko-KR" altLang="en-US" sz="600">
              <a:latin typeface="+mn-ea"/>
            </a:endParaRP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C048CC5C-0D97-68A8-F0A3-B3A0BA91A3D2}"/>
              </a:ext>
            </a:extLst>
          </p:cNvPr>
          <p:cNvCxnSpPr>
            <a:cxnSpLocks/>
          </p:cNvCxnSpPr>
          <p:nvPr/>
        </p:nvCxnSpPr>
        <p:spPr>
          <a:xfrm>
            <a:off x="7985849" y="4099226"/>
            <a:ext cx="411143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2DCCA4E3-10D4-FDD2-2937-3F9F7645D896}"/>
              </a:ext>
            </a:extLst>
          </p:cNvPr>
          <p:cNvSpPr txBox="1"/>
          <p:nvPr/>
        </p:nvSpPr>
        <p:spPr>
          <a:xfrm>
            <a:off x="8396992" y="3999198"/>
            <a:ext cx="11832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계약서 페이지로 이동</a:t>
            </a:r>
            <a:endParaRPr kumimoji="0" lang="en-US" altLang="ko-KR" sz="70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02E9255C-32A7-CC78-79C9-6E717563CD78}"/>
              </a:ext>
            </a:extLst>
          </p:cNvPr>
          <p:cNvSpPr/>
          <p:nvPr/>
        </p:nvSpPr>
        <p:spPr>
          <a:xfrm>
            <a:off x="3480166" y="4930451"/>
            <a:ext cx="2036205" cy="1070955"/>
          </a:xfrm>
          <a:prstGeom prst="roundRect">
            <a:avLst>
              <a:gd name="adj" fmla="val 242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i="0">
                <a:solidFill>
                  <a:srgbClr val="000000"/>
                </a:solidFill>
                <a:effectLst/>
                <a:latin typeface="S-CoreDream"/>
              </a:rPr>
              <a:t>잔액이 부족합니다</a:t>
            </a:r>
            <a:r>
              <a:rPr lang="en-US" altLang="ko-KR" sz="800" b="0" i="0">
                <a:solidFill>
                  <a:srgbClr val="000000"/>
                </a:solidFill>
                <a:effectLst/>
                <a:latin typeface="S-CoreDream"/>
              </a:rPr>
              <a:t>.</a:t>
            </a:r>
            <a:endParaRPr lang="en-US" altLang="ko-KR" sz="800">
              <a:solidFill>
                <a:sysClr val="windowText" lastClr="000000"/>
              </a:solidFill>
              <a:latin typeface="+mn-ea"/>
            </a:endParaRPr>
          </a:p>
          <a:p>
            <a:pPr algn="ctr"/>
            <a:endParaRPr lang="en-US" altLang="ko-KR" sz="800">
              <a:solidFill>
                <a:sysClr val="windowText" lastClr="000000"/>
              </a:solidFill>
              <a:latin typeface="+mn-ea"/>
            </a:endParaRPr>
          </a:p>
          <a:p>
            <a:pPr algn="ctr"/>
            <a:endParaRPr lang="ko-KR" altLang="en-US" sz="80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D2C70438-D9B8-3542-12B7-BEB6E6879C29}"/>
              </a:ext>
            </a:extLst>
          </p:cNvPr>
          <p:cNvSpPr/>
          <p:nvPr/>
        </p:nvSpPr>
        <p:spPr>
          <a:xfrm>
            <a:off x="4000820" y="5651493"/>
            <a:ext cx="932889" cy="252809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BCEA0CF-9C4F-F8C9-889C-1BB09FAAE9B0}"/>
              </a:ext>
            </a:extLst>
          </p:cNvPr>
          <p:cNvSpPr txBox="1"/>
          <p:nvPr/>
        </p:nvSpPr>
        <p:spPr>
          <a:xfrm>
            <a:off x="5286126" y="4935495"/>
            <a:ext cx="27205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X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4E1E3A4-F9E5-9279-DEF6-468DBBC7317C}"/>
              </a:ext>
            </a:extLst>
          </p:cNvPr>
          <p:cNvSpPr txBox="1"/>
          <p:nvPr/>
        </p:nvSpPr>
        <p:spPr>
          <a:xfrm>
            <a:off x="3474822" y="4679252"/>
            <a:ext cx="18798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[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금액 부족 시 </a:t>
            </a:r>
            <a:r>
              <a:rPr lang="en-US" altLang="ko-KR" sz="900">
                <a:solidFill>
                  <a:sysClr val="windowText" lastClr="000000"/>
                </a:solidFill>
                <a:latin typeface="+mn-ea"/>
              </a:rPr>
              <a:t>Alert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]</a:t>
            </a: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0C14BF78-F388-CD94-ECD3-BEAA1109D686}"/>
              </a:ext>
            </a:extLst>
          </p:cNvPr>
          <p:cNvSpPr/>
          <p:nvPr/>
        </p:nvSpPr>
        <p:spPr>
          <a:xfrm>
            <a:off x="3466496" y="1293573"/>
            <a:ext cx="180947" cy="180947"/>
          </a:xfrm>
          <a:prstGeom prst="ellipse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latin typeface="+mn-ea"/>
              </a:rPr>
              <a:t>1</a:t>
            </a:r>
            <a:endParaRPr lang="ko-KR" altLang="en-US" sz="800" b="1">
              <a:latin typeface="+mn-ea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727D0613-7346-AC44-D693-28D361A283AD}"/>
              </a:ext>
            </a:extLst>
          </p:cNvPr>
          <p:cNvSpPr/>
          <p:nvPr/>
        </p:nvSpPr>
        <p:spPr>
          <a:xfrm>
            <a:off x="3466496" y="1713684"/>
            <a:ext cx="180947" cy="180947"/>
          </a:xfrm>
          <a:prstGeom prst="ellipse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latin typeface="+mn-ea"/>
              </a:rPr>
              <a:t>2</a:t>
            </a:r>
            <a:endParaRPr lang="ko-KR" altLang="en-US" sz="800" b="1">
              <a:latin typeface="+mn-ea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DA251A33-C6D1-29CC-0563-5CD1DAF5D0D4}"/>
              </a:ext>
            </a:extLst>
          </p:cNvPr>
          <p:cNvSpPr/>
          <p:nvPr/>
        </p:nvSpPr>
        <p:spPr>
          <a:xfrm>
            <a:off x="3466496" y="2907563"/>
            <a:ext cx="180947" cy="180947"/>
          </a:xfrm>
          <a:prstGeom prst="ellipse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latin typeface="+mn-ea"/>
              </a:rPr>
              <a:t>3</a:t>
            </a:r>
            <a:endParaRPr lang="ko-KR" altLang="en-US" sz="800" b="1">
              <a:latin typeface="+mn-ea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704D040A-E3E4-5CB5-E56C-4F94ACDA30A4}"/>
              </a:ext>
            </a:extLst>
          </p:cNvPr>
          <p:cNvSpPr/>
          <p:nvPr/>
        </p:nvSpPr>
        <p:spPr>
          <a:xfrm>
            <a:off x="5496371" y="3886320"/>
            <a:ext cx="180947" cy="180947"/>
          </a:xfrm>
          <a:prstGeom prst="ellipse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latin typeface="+mn-ea"/>
              </a:rPr>
              <a:t>4</a:t>
            </a:r>
            <a:endParaRPr lang="ko-KR" altLang="en-US" sz="800" b="1">
              <a:latin typeface="+mn-ea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D4F3E77F-82C2-F2EA-A06E-83D36DA37F3A}"/>
              </a:ext>
            </a:extLst>
          </p:cNvPr>
          <p:cNvSpPr/>
          <p:nvPr/>
        </p:nvSpPr>
        <p:spPr>
          <a:xfrm flipH="1">
            <a:off x="3301719" y="4727949"/>
            <a:ext cx="225413" cy="180947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latin typeface="+mn-ea"/>
              </a:rPr>
              <a:t>4-1</a:t>
            </a:r>
            <a:endParaRPr lang="ko-KR" altLang="en-US" sz="800" b="1">
              <a:latin typeface="+mn-ea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32319E5E-2687-8D64-E316-39C212B4597E}"/>
              </a:ext>
            </a:extLst>
          </p:cNvPr>
          <p:cNvSpPr/>
          <p:nvPr/>
        </p:nvSpPr>
        <p:spPr>
          <a:xfrm flipH="1">
            <a:off x="5330556" y="2294848"/>
            <a:ext cx="225413" cy="180947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latin typeface="+mn-ea"/>
              </a:rPr>
              <a:t>2-1</a:t>
            </a:r>
            <a:endParaRPr lang="ko-KR" altLang="en-US" sz="800" b="1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58225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5099F-B610-E8F7-7974-9A86159EF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38FBE6-65D5-5393-D203-FDCC0E218131}"/>
              </a:ext>
            </a:extLst>
          </p:cNvPr>
          <p:cNvSpPr txBox="1"/>
          <p:nvPr/>
        </p:nvSpPr>
        <p:spPr>
          <a:xfrm>
            <a:off x="1157681" y="63717"/>
            <a:ext cx="5333160" cy="2016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>
              <a:defRPr/>
            </a:pPr>
            <a:r>
              <a:rPr lang="ko-KR" altLang="en-US" sz="800">
                <a:solidFill>
                  <a:prstClr val="black"/>
                </a:solidFill>
                <a:latin typeface="+mn-ea"/>
              </a:rPr>
              <a:t>계좌이체</a:t>
            </a:r>
            <a:r>
              <a:rPr lang="en-US" altLang="ko-KR" sz="80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800">
                <a:solidFill>
                  <a:prstClr val="black"/>
                </a:solidFill>
                <a:latin typeface="+mn-ea"/>
              </a:rPr>
              <a:t>고도화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14B72-B554-3C88-50EB-788C9412695F}"/>
              </a:ext>
            </a:extLst>
          </p:cNvPr>
          <p:cNvSpPr txBox="1"/>
          <p:nvPr/>
        </p:nvSpPr>
        <p:spPr>
          <a:xfrm>
            <a:off x="1152008" y="276634"/>
            <a:ext cx="5364000" cy="2016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fontAlgn="ctr"/>
            <a:r>
              <a:rPr lang="ko-KR" altLang="en-US" sz="800">
                <a:solidFill>
                  <a:srgbClr val="000000"/>
                </a:solidFill>
                <a:latin typeface="+mn-ea"/>
              </a:rPr>
              <a:t>홈 </a:t>
            </a:r>
            <a:r>
              <a:rPr lang="en-US" altLang="ko-KR" sz="800">
                <a:solidFill>
                  <a:srgbClr val="000000"/>
                </a:solidFill>
                <a:latin typeface="+mn-ea"/>
              </a:rPr>
              <a:t>&gt; </a:t>
            </a:r>
            <a:r>
              <a:rPr lang="ko-KR" altLang="en-US" sz="800">
                <a:solidFill>
                  <a:srgbClr val="000000"/>
                </a:solidFill>
                <a:latin typeface="+mn-ea"/>
              </a:rPr>
              <a:t>마이페이지</a:t>
            </a:r>
            <a:r>
              <a:rPr lang="en-US" altLang="ko-KR" sz="800">
                <a:solidFill>
                  <a:srgbClr val="000000"/>
                </a:solidFill>
                <a:latin typeface="+mn-ea"/>
              </a:rPr>
              <a:t> &gt;</a:t>
            </a:r>
            <a:r>
              <a:rPr lang="ko-KR" altLang="en-US" sz="800">
                <a:solidFill>
                  <a:srgbClr val="000000"/>
                </a:solidFill>
                <a:latin typeface="+mn-ea"/>
              </a:rPr>
              <a:t> 결제내역</a:t>
            </a:r>
            <a:r>
              <a:rPr lang="en-US" altLang="ko-KR" sz="80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+mn-ea"/>
              </a:rPr>
              <a:t>전체 탭</a:t>
            </a:r>
            <a:r>
              <a:rPr lang="en-US" altLang="ko-KR" sz="800">
                <a:solidFill>
                  <a:srgbClr val="000000"/>
                </a:solidFill>
                <a:latin typeface="+mn-ea"/>
              </a:rPr>
              <a:t>)</a:t>
            </a:r>
            <a:endParaRPr lang="ko-KR" altLang="en-US" sz="80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2E35A2-9F83-0156-AF47-0C83E6079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243607"/>
              </p:ext>
            </p:extLst>
          </p:nvPr>
        </p:nvGraphicFramePr>
        <p:xfrm>
          <a:off x="9329972" y="683966"/>
          <a:ext cx="2794470" cy="211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결제내역 조회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전체 탭 선택 시 계좌이체 항목 신설 노출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2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검색조건 추가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계좌이체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계좌이체 선택 시 상세항목 노출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&gt;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전체</a:t>
                      </a: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입금</a:t>
                      </a: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결제</a:t>
                      </a: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정산</a:t>
                      </a: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환불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검색조건으로 상세검색 진행</a:t>
                      </a: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기존 기능 동일</a:t>
                      </a: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009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3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걸제 내역 조회</a:t>
                      </a: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전체</a:t>
                      </a: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기존 항목에 해당 형태로 노출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주문번호 선택 시 주문 상세페이지로 이동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정산영역 색상 적용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baseline="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Malgun Gothic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800" b="0" kern="1200" baseline="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Malgun Gothic"/>
                          <a:sym typeface="Wingdings" panose="05000000000000000000" pitchFamily="2" charset="2"/>
                        </a:rPr>
                        <a:t>유형</a:t>
                      </a:r>
                      <a:r>
                        <a:rPr lang="en-US" altLang="ko-KR" sz="800" b="0" kern="1200" baseline="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Malgun Gothic"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 sz="800" b="0" kern="1200" baseline="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Malgun Gothic"/>
                          <a:sym typeface="Wingdings" panose="05000000000000000000" pitchFamily="2" charset="2"/>
                        </a:rPr>
                        <a:t>적요  노출기준에 따라 적용</a:t>
                      </a:r>
                      <a:endParaRPr lang="en-US" altLang="ko-KR" sz="800" b="0" kern="1200" baseline="0">
                        <a:solidFill>
                          <a:srgbClr val="FF0000"/>
                        </a:solidFill>
                        <a:latin typeface="+mj-ea"/>
                        <a:ea typeface="+mn-ea"/>
                        <a:cs typeface="Malgun Gothic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828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*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디자인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공통</a:t>
                      </a: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 : 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탭 영역 수정 </a:t>
                      </a:r>
                      <a:r>
                        <a:rPr lang="en-US" altLang="ko-KR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ko-KR" altLang="en-US" sz="800" b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Malgun Gothic"/>
                          <a:sym typeface="Wingdings" panose="05000000000000000000" pitchFamily="2" charset="2"/>
                        </a:rPr>
                        <a:t>그 외 수정 없음</a:t>
                      </a: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585765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99CCA51E-1BA8-5C48-335D-EE879A8CD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54" y="680235"/>
            <a:ext cx="7070146" cy="57667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BDFF8F-F72D-C025-277A-7126D44AF32F}"/>
              </a:ext>
            </a:extLst>
          </p:cNvPr>
          <p:cNvSpPr txBox="1"/>
          <p:nvPr/>
        </p:nvSpPr>
        <p:spPr>
          <a:xfrm>
            <a:off x="3398424" y="2278241"/>
            <a:ext cx="905144" cy="2154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계좌이체</a:t>
            </a:r>
            <a:endParaRPr kumimoji="0" lang="en-US" altLang="ko-KR" sz="8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31E90E3-1796-B71E-8DF0-B579B4A80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73180"/>
              </p:ext>
            </p:extLst>
          </p:nvPr>
        </p:nvGraphicFramePr>
        <p:xfrm>
          <a:off x="1828223" y="3888134"/>
          <a:ext cx="5976504" cy="1283855"/>
        </p:xfrm>
        <a:graphic>
          <a:graphicData uri="http://schemas.openxmlformats.org/drawingml/2006/table">
            <a:tbl>
              <a:tblPr/>
              <a:tblGrid>
                <a:gridCol w="905062">
                  <a:extLst>
                    <a:ext uri="{9D8B030D-6E8A-4147-A177-3AD203B41FA5}">
                      <a16:colId xmlns:a16="http://schemas.microsoft.com/office/drawing/2014/main" val="218915529"/>
                    </a:ext>
                  </a:extLst>
                </a:gridCol>
                <a:gridCol w="916708">
                  <a:extLst>
                    <a:ext uri="{9D8B030D-6E8A-4147-A177-3AD203B41FA5}">
                      <a16:colId xmlns:a16="http://schemas.microsoft.com/office/drawing/2014/main" val="3512269862"/>
                    </a:ext>
                  </a:extLst>
                </a:gridCol>
                <a:gridCol w="271186">
                  <a:extLst>
                    <a:ext uri="{9D8B030D-6E8A-4147-A177-3AD203B41FA5}">
                      <a16:colId xmlns:a16="http://schemas.microsoft.com/office/drawing/2014/main" val="1324661731"/>
                    </a:ext>
                  </a:extLst>
                </a:gridCol>
                <a:gridCol w="947931">
                  <a:extLst>
                    <a:ext uri="{9D8B030D-6E8A-4147-A177-3AD203B41FA5}">
                      <a16:colId xmlns:a16="http://schemas.microsoft.com/office/drawing/2014/main" val="2776984244"/>
                    </a:ext>
                  </a:extLst>
                </a:gridCol>
                <a:gridCol w="484142">
                  <a:extLst>
                    <a:ext uri="{9D8B030D-6E8A-4147-A177-3AD203B41FA5}">
                      <a16:colId xmlns:a16="http://schemas.microsoft.com/office/drawing/2014/main" val="7209329"/>
                    </a:ext>
                  </a:extLst>
                </a:gridCol>
                <a:gridCol w="628885">
                  <a:extLst>
                    <a:ext uri="{9D8B030D-6E8A-4147-A177-3AD203B41FA5}">
                      <a16:colId xmlns:a16="http://schemas.microsoft.com/office/drawing/2014/main" val="4243675690"/>
                    </a:ext>
                  </a:extLst>
                </a:gridCol>
                <a:gridCol w="1822590">
                  <a:extLst>
                    <a:ext uri="{9D8B030D-6E8A-4147-A177-3AD203B41FA5}">
                      <a16:colId xmlns:a16="http://schemas.microsoft.com/office/drawing/2014/main" val="2587457625"/>
                    </a:ext>
                  </a:extLst>
                </a:gridCol>
              </a:tblGrid>
              <a:tr h="2567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거래일시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주문번호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결제방식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결제수단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금액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적요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459853"/>
                  </a:ext>
                </a:extLst>
              </a:tr>
              <a:tr h="2567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2024-03-26 15:31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20240326-S00769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입금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현금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계좌이체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100,000,000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서린닷컴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입금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303281"/>
                  </a:ext>
                </a:extLst>
              </a:tr>
              <a:tr h="2567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2024-03-25 15:31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20240325-S00766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현금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계좌이체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80,000,000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현금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580656"/>
                  </a:ext>
                </a:extLst>
              </a:tr>
              <a:tr h="2567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2024-03-22 15:31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20240322-S00765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현금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계좌이체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3,000,000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환불계좌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우리은행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)148-916009-00000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914675"/>
                  </a:ext>
                </a:extLst>
              </a:tr>
              <a:tr h="2567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2024-03-22 15:31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20240322-S00764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환불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현금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계좌이체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20,000,000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서린닷컴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환불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3767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19F8BF3-A088-4819-B46D-4207FDDF783F}"/>
              </a:ext>
            </a:extLst>
          </p:cNvPr>
          <p:cNvSpPr txBox="1"/>
          <p:nvPr/>
        </p:nvSpPr>
        <p:spPr>
          <a:xfrm>
            <a:off x="1828223" y="5163128"/>
            <a:ext cx="5865668" cy="12838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8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12F3614-0342-0224-D57D-78DEC3E3101C}"/>
              </a:ext>
            </a:extLst>
          </p:cNvPr>
          <p:cNvSpPr/>
          <p:nvPr/>
        </p:nvSpPr>
        <p:spPr>
          <a:xfrm>
            <a:off x="1737749" y="2134295"/>
            <a:ext cx="180947" cy="180947"/>
          </a:xfrm>
          <a:prstGeom prst="ellipse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latin typeface="+mn-ea"/>
              </a:rPr>
              <a:t>1</a:t>
            </a:r>
            <a:endParaRPr lang="ko-KR" altLang="en-US" sz="800" b="1">
              <a:latin typeface="+mn-ea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0234F90-FCAB-88C0-5B37-8A59FCC12FC6}"/>
              </a:ext>
            </a:extLst>
          </p:cNvPr>
          <p:cNvSpPr/>
          <p:nvPr/>
        </p:nvSpPr>
        <p:spPr>
          <a:xfrm>
            <a:off x="1656223" y="2685748"/>
            <a:ext cx="180947" cy="180947"/>
          </a:xfrm>
          <a:prstGeom prst="ellipse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latin typeface="+mn-ea"/>
              </a:rPr>
              <a:t>2</a:t>
            </a:r>
            <a:endParaRPr lang="ko-KR" altLang="en-US" sz="800" b="1">
              <a:latin typeface="+mn-ea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CCFA41F-C8C7-51B3-DEB2-19959838AB4B}"/>
              </a:ext>
            </a:extLst>
          </p:cNvPr>
          <p:cNvSpPr/>
          <p:nvPr/>
        </p:nvSpPr>
        <p:spPr>
          <a:xfrm>
            <a:off x="1656223" y="3833965"/>
            <a:ext cx="180947" cy="180947"/>
          </a:xfrm>
          <a:prstGeom prst="ellipse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latin typeface="+mn-ea"/>
              </a:rPr>
              <a:t>3</a:t>
            </a:r>
            <a:endParaRPr lang="ko-KR" altLang="en-US" sz="800" b="1"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800348-4F56-C72E-3CFB-D8343D53AA51}"/>
              </a:ext>
            </a:extLst>
          </p:cNvPr>
          <p:cNvSpPr/>
          <p:nvPr/>
        </p:nvSpPr>
        <p:spPr>
          <a:xfrm>
            <a:off x="2252664" y="2670508"/>
            <a:ext cx="833436" cy="81141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700">
                <a:solidFill>
                  <a:sysClr val="windowText" lastClr="000000"/>
                </a:solidFill>
                <a:latin typeface="+mj-ea"/>
                <a:ea typeface="+mj-ea"/>
              </a:rPr>
              <a:t>전체</a:t>
            </a:r>
            <a:endParaRPr lang="en-US" altLang="ko-KR" sz="700">
              <a:solidFill>
                <a:sysClr val="windowText" lastClr="000000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700">
                <a:solidFill>
                  <a:sysClr val="windowText" lastClr="000000"/>
                </a:solidFill>
                <a:latin typeface="+mj-ea"/>
                <a:ea typeface="+mj-ea"/>
              </a:rPr>
              <a:t>E-Wallet</a:t>
            </a:r>
          </a:p>
          <a:p>
            <a:pPr>
              <a:lnSpc>
                <a:spcPct val="150000"/>
              </a:lnSpc>
            </a:pPr>
            <a:r>
              <a:rPr lang="ko-KR" altLang="en-US" sz="700">
                <a:solidFill>
                  <a:sysClr val="windowText" lastClr="000000"/>
                </a:solidFill>
                <a:latin typeface="+mj-ea"/>
                <a:ea typeface="+mj-ea"/>
              </a:rPr>
              <a:t>전자상거래보증</a:t>
            </a:r>
            <a:endParaRPr lang="en-US" altLang="ko-KR" sz="700">
              <a:solidFill>
                <a:sysClr val="windowText" lastClr="000000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700">
                <a:solidFill>
                  <a:sysClr val="windowText" lastClr="000000"/>
                </a:solidFill>
                <a:latin typeface="+mj-ea"/>
                <a:ea typeface="+mj-ea"/>
              </a:rPr>
              <a:t>구매자금</a:t>
            </a:r>
            <a:endParaRPr lang="en-US" altLang="ko-KR" sz="700">
              <a:solidFill>
                <a:sysClr val="windowText" lastClr="000000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700">
                <a:solidFill>
                  <a:sysClr val="windowText" lastClr="000000"/>
                </a:solidFill>
                <a:highlight>
                  <a:srgbClr val="FFFF00"/>
                </a:highlight>
                <a:latin typeface="+mj-ea"/>
                <a:ea typeface="+mj-ea"/>
              </a:rPr>
              <a:t>계좌이체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444714-5F46-0C0B-34C7-AEAA4A932A79}"/>
              </a:ext>
            </a:extLst>
          </p:cNvPr>
          <p:cNvSpPr/>
          <p:nvPr/>
        </p:nvSpPr>
        <p:spPr>
          <a:xfrm>
            <a:off x="3241439" y="2670508"/>
            <a:ext cx="962306" cy="81141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700">
                <a:solidFill>
                  <a:sysClr val="windowText" lastClr="000000"/>
                </a:solidFill>
                <a:latin typeface="+mj-ea"/>
                <a:ea typeface="+mj-ea"/>
              </a:rPr>
              <a:t>전체</a:t>
            </a:r>
            <a:endParaRPr lang="en-US" altLang="ko-KR" sz="700">
              <a:solidFill>
                <a:sysClr val="windowText" lastClr="000000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700">
                <a:solidFill>
                  <a:sysClr val="windowText" lastClr="000000"/>
                </a:solidFill>
                <a:latin typeface="+mj-ea"/>
                <a:ea typeface="+mj-ea"/>
              </a:rPr>
              <a:t>입금</a:t>
            </a:r>
            <a:endParaRPr lang="en-US" altLang="ko-KR" sz="700">
              <a:solidFill>
                <a:sysClr val="windowText" lastClr="000000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700">
                <a:solidFill>
                  <a:sysClr val="windowText" lastClr="000000"/>
                </a:solidFill>
                <a:latin typeface="+mj-ea"/>
                <a:ea typeface="+mj-ea"/>
              </a:rPr>
              <a:t>결제</a:t>
            </a:r>
            <a:endParaRPr lang="en-US" altLang="ko-KR" sz="700">
              <a:solidFill>
                <a:sysClr val="windowText" lastClr="000000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700">
                <a:solidFill>
                  <a:sysClr val="windowText" lastClr="000000"/>
                </a:solidFill>
                <a:latin typeface="+mj-ea"/>
                <a:ea typeface="+mj-ea"/>
              </a:rPr>
              <a:t>정산</a:t>
            </a:r>
            <a:endParaRPr lang="en-US" altLang="ko-KR" sz="700">
              <a:solidFill>
                <a:sysClr val="windowText" lastClr="000000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700">
                <a:solidFill>
                  <a:sysClr val="windowText" lastClr="000000"/>
                </a:solidFill>
                <a:latin typeface="+mj-ea"/>
                <a:ea typeface="+mj-ea"/>
              </a:rPr>
              <a:t>환불</a:t>
            </a:r>
          </a:p>
        </p:txBody>
      </p:sp>
    </p:spTree>
    <p:extLst>
      <p:ext uri="{BB962C8B-B14F-4D97-AF65-F5344CB8AC3E}">
        <p14:creationId xmlns:p14="http://schemas.microsoft.com/office/powerpoint/2010/main" val="2370189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D7FF5-49A4-4F86-7C7C-24B840456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34EA888-A300-2346-C008-1241693CA942}"/>
              </a:ext>
            </a:extLst>
          </p:cNvPr>
          <p:cNvSpPr/>
          <p:nvPr/>
        </p:nvSpPr>
        <p:spPr>
          <a:xfrm>
            <a:off x="3499925" y="3578263"/>
            <a:ext cx="5635365" cy="21234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ysClr val="windowText" lastClr="0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444EB19-0C7C-7B33-54CB-F4F11021AD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44385"/>
          <a:stretch/>
        </p:blipFill>
        <p:spPr>
          <a:xfrm>
            <a:off x="218789" y="865398"/>
            <a:ext cx="2990944" cy="226832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54B170B-6B4F-2E84-10C1-686BCFC999B0}"/>
              </a:ext>
            </a:extLst>
          </p:cNvPr>
          <p:cNvSpPr/>
          <p:nvPr/>
        </p:nvSpPr>
        <p:spPr>
          <a:xfrm>
            <a:off x="816903" y="2682876"/>
            <a:ext cx="2392830" cy="892552"/>
          </a:xfrm>
          <a:prstGeom prst="rect">
            <a:avLst/>
          </a:prstGeom>
          <a:solidFill>
            <a:srgbClr val="FF0000">
              <a:alpha val="31000"/>
            </a:srgb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/>
              <a:t> </a:t>
            </a:r>
            <a:r>
              <a:rPr lang="en-US" altLang="ko-KR" sz="900"/>
              <a:t>“</a:t>
            </a:r>
            <a:r>
              <a:rPr lang="ko-KR" altLang="en-US" sz="900"/>
              <a:t>결제방식 변경</a:t>
            </a:r>
            <a:r>
              <a:rPr lang="en-US" altLang="ko-KR" sz="900"/>
              <a:t>”</a:t>
            </a:r>
            <a:r>
              <a:rPr lang="ko-KR" altLang="en-US" sz="900"/>
              <a:t> 영역 변경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D42802-5845-7CC3-2D28-08DA185FE584}"/>
              </a:ext>
            </a:extLst>
          </p:cNvPr>
          <p:cNvSpPr txBox="1"/>
          <p:nvPr/>
        </p:nvSpPr>
        <p:spPr>
          <a:xfrm>
            <a:off x="1157681" y="63717"/>
            <a:ext cx="5333160" cy="2016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>
              <a:defRPr/>
            </a:pPr>
            <a:r>
              <a:rPr lang="ko-KR" altLang="en-US" sz="800">
                <a:solidFill>
                  <a:prstClr val="black"/>
                </a:solidFill>
                <a:latin typeface="+mn-ea"/>
              </a:rPr>
              <a:t>계좌이체</a:t>
            </a:r>
            <a:r>
              <a:rPr lang="en-US" altLang="ko-KR" sz="80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800">
                <a:solidFill>
                  <a:prstClr val="black"/>
                </a:solidFill>
                <a:latin typeface="+mn-ea"/>
              </a:rPr>
              <a:t>고도화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1B5BD0-9C8D-2314-2F9B-105582AC4C67}"/>
              </a:ext>
            </a:extLst>
          </p:cNvPr>
          <p:cNvSpPr txBox="1"/>
          <p:nvPr/>
        </p:nvSpPr>
        <p:spPr>
          <a:xfrm>
            <a:off x="1152008" y="276634"/>
            <a:ext cx="5364000" cy="2016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fontAlgn="ctr"/>
            <a:r>
              <a:rPr lang="ko-KR" altLang="en-US" sz="800">
                <a:solidFill>
                  <a:srgbClr val="000000"/>
                </a:solidFill>
                <a:latin typeface="+mn-ea"/>
              </a:rPr>
              <a:t>마이페이지 </a:t>
            </a:r>
            <a:r>
              <a:rPr lang="en-US" altLang="ko-KR" sz="800">
                <a:solidFill>
                  <a:srgbClr val="000000"/>
                </a:solidFill>
                <a:latin typeface="+mn-ea"/>
              </a:rPr>
              <a:t>&gt; </a:t>
            </a:r>
            <a:r>
              <a:rPr lang="ko-KR" altLang="en-US" sz="800">
                <a:solidFill>
                  <a:srgbClr val="000000"/>
                </a:solidFill>
                <a:latin typeface="+mn-ea"/>
              </a:rPr>
              <a:t>회사정보관리</a:t>
            </a:r>
            <a:r>
              <a:rPr lang="en-US" altLang="ko-KR" sz="800">
                <a:solidFill>
                  <a:srgbClr val="000000"/>
                </a:solidFill>
                <a:latin typeface="+mn-ea"/>
              </a:rPr>
              <a:t>_</a:t>
            </a:r>
            <a:r>
              <a:rPr lang="ko-KR" altLang="en-US" sz="800">
                <a:solidFill>
                  <a:srgbClr val="000000"/>
                </a:solidFill>
                <a:latin typeface="+mn-ea"/>
              </a:rPr>
              <a:t>기본 결제수단 메뉴 추가</a:t>
            </a:r>
            <a:r>
              <a:rPr lang="en-US" altLang="ko-KR" sz="800">
                <a:solidFill>
                  <a:srgbClr val="000000"/>
                </a:solidFill>
                <a:latin typeface="+mn-ea"/>
              </a:rPr>
              <a:t>(Default)</a:t>
            </a:r>
            <a:endParaRPr lang="ko-KR" altLang="en-US" sz="80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75066FC-76C0-1092-A0EA-C3E691BBD9EB}"/>
              </a:ext>
            </a:extLst>
          </p:cNvPr>
          <p:cNvGraphicFramePr>
            <a:graphicFrameLocks noGrp="1"/>
          </p:cNvGraphicFramePr>
          <p:nvPr/>
        </p:nvGraphicFramePr>
        <p:xfrm>
          <a:off x="9329972" y="683966"/>
          <a:ext cx="2794470" cy="5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2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009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3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Malgun Gothic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82801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2F6E39C-FFA0-4448-0167-C7CB34443DAD}"/>
              </a:ext>
            </a:extLst>
          </p:cNvPr>
          <p:cNvSpPr txBox="1"/>
          <p:nvPr/>
        </p:nvSpPr>
        <p:spPr>
          <a:xfrm>
            <a:off x="8424765" y="4420919"/>
            <a:ext cx="615013" cy="180425"/>
          </a:xfrm>
          <a:prstGeom prst="rect">
            <a:avLst/>
          </a:prstGeom>
          <a:solidFill>
            <a:schemeClr val="bg1"/>
          </a:solidFill>
          <a:ln>
            <a:solidFill>
              <a:srgbClr val="0066FF"/>
            </a:solidFill>
          </a:ln>
        </p:spPr>
        <p:txBody>
          <a:bodyPr wrap="square" lIns="0" tIns="36000" rIns="0" bIns="3600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>
                <a:latin typeface="+mn-ea"/>
              </a:rPr>
              <a:t>계좌 변경</a:t>
            </a:r>
            <a:endParaRPr kumimoji="0" lang="en-US" altLang="ko-KR" sz="7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3ED4FC8-60CF-0B1E-1C41-10615692D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336" y="864378"/>
            <a:ext cx="5380541" cy="1174973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BAFBC05-1A2C-664B-52BE-E1E1C48E951A}"/>
              </a:ext>
            </a:extLst>
          </p:cNvPr>
          <p:cNvSpPr/>
          <p:nvPr/>
        </p:nvSpPr>
        <p:spPr>
          <a:xfrm>
            <a:off x="3499925" y="768966"/>
            <a:ext cx="5635365" cy="1458665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ysClr val="windowText" lastClr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790F9E-1BB6-FA72-065C-619C8EF2C0C3}"/>
              </a:ext>
            </a:extLst>
          </p:cNvPr>
          <p:cNvSpPr txBox="1"/>
          <p:nvPr/>
        </p:nvSpPr>
        <p:spPr>
          <a:xfrm>
            <a:off x="3499927" y="3689361"/>
            <a:ext cx="2042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기본 결제 수단</a:t>
            </a:r>
            <a:endParaRPr kumimoji="0" lang="en-US" altLang="ko-KR" sz="10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0B2931AD-1757-09A7-3E72-32B35E99B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827971"/>
              </p:ext>
            </p:extLst>
          </p:nvPr>
        </p:nvGraphicFramePr>
        <p:xfrm>
          <a:off x="3581303" y="3983842"/>
          <a:ext cx="5458475" cy="311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897">
                  <a:extLst>
                    <a:ext uri="{9D8B030D-6E8A-4147-A177-3AD203B41FA5}">
                      <a16:colId xmlns:a16="http://schemas.microsoft.com/office/drawing/2014/main" val="2987754960"/>
                    </a:ext>
                  </a:extLst>
                </a:gridCol>
                <a:gridCol w="2743578">
                  <a:extLst>
                    <a:ext uri="{9D8B030D-6E8A-4147-A177-3AD203B41FA5}">
                      <a16:colId xmlns:a16="http://schemas.microsoft.com/office/drawing/2014/main" val="3770600417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7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하나은행 </a:t>
                      </a:r>
                      <a:r>
                        <a:rPr lang="en-US" altLang="ko-KR" sz="7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e-wallet</a:t>
                      </a:r>
                      <a:endParaRPr lang="ko-KR" altLang="en-US" sz="7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계좌이체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11939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AEF31C7-0E1E-6BE3-609A-87F5CAA25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236303"/>
              </p:ext>
            </p:extLst>
          </p:nvPr>
        </p:nvGraphicFramePr>
        <p:xfrm>
          <a:off x="3581303" y="4679878"/>
          <a:ext cx="5474124" cy="933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24">
                  <a:extLst>
                    <a:ext uri="{9D8B030D-6E8A-4147-A177-3AD203B41FA5}">
                      <a16:colId xmlns:a16="http://schemas.microsoft.com/office/drawing/2014/main" val="309754498"/>
                    </a:ext>
                  </a:extLst>
                </a:gridCol>
                <a:gridCol w="1911833">
                  <a:extLst>
                    <a:ext uri="{9D8B030D-6E8A-4147-A177-3AD203B41FA5}">
                      <a16:colId xmlns:a16="http://schemas.microsoft.com/office/drawing/2014/main" val="4248647963"/>
                    </a:ext>
                  </a:extLst>
                </a:gridCol>
                <a:gridCol w="836023">
                  <a:extLst>
                    <a:ext uri="{9D8B030D-6E8A-4147-A177-3AD203B41FA5}">
                      <a16:colId xmlns:a16="http://schemas.microsoft.com/office/drawing/2014/main" val="846751011"/>
                    </a:ext>
                  </a:extLst>
                </a:gridCol>
                <a:gridCol w="1862244">
                  <a:extLst>
                    <a:ext uri="{9D8B030D-6E8A-4147-A177-3AD203B41FA5}">
                      <a16:colId xmlns:a16="http://schemas.microsoft.com/office/drawing/2014/main" val="2819316495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은행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가상</a:t>
                      </a:r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계좌번호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87267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계좌명의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계좌번호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380952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통장파일 첨부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7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833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0650531-C676-40C5-141E-34364EBB1887}"/>
              </a:ext>
            </a:extLst>
          </p:cNvPr>
          <p:cNvSpPr txBox="1"/>
          <p:nvPr/>
        </p:nvSpPr>
        <p:spPr>
          <a:xfrm>
            <a:off x="4554662" y="4752641"/>
            <a:ext cx="984125" cy="1804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36000" rIns="0" bIns="3600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>
                <a:latin typeface="+mn-ea"/>
              </a:rPr>
              <a:t>기업은행</a:t>
            </a:r>
            <a:r>
              <a:rPr lang="en-US" altLang="ko-KR" sz="700">
                <a:latin typeface="+mn-ea"/>
              </a:rPr>
              <a:t>          </a:t>
            </a:r>
            <a:r>
              <a:rPr lang="ko-KR" altLang="en-US" sz="700">
                <a:latin typeface="+mn-ea"/>
              </a:rPr>
              <a:t>▼</a:t>
            </a:r>
            <a:endParaRPr kumimoji="0" lang="en-US" altLang="ko-KR" sz="7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BC0A2A-8C7D-B40B-45A1-7F74AB1DCB5E}"/>
              </a:ext>
            </a:extLst>
          </p:cNvPr>
          <p:cNvSpPr txBox="1"/>
          <p:nvPr/>
        </p:nvSpPr>
        <p:spPr>
          <a:xfrm>
            <a:off x="4554662" y="5060024"/>
            <a:ext cx="984125" cy="180425"/>
          </a:xfrm>
          <a:prstGeom prst="rect">
            <a:avLst/>
          </a:prstGeom>
          <a:noFill/>
          <a:ln>
            <a:noFill/>
          </a:ln>
        </p:spPr>
        <p:txBody>
          <a:bodyPr wrap="square" lIns="0" tIns="36000" rIns="0" bIns="3600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>
                <a:latin typeface="+mn-ea"/>
              </a:rPr>
              <a:t>   김하임</a:t>
            </a:r>
            <a:endParaRPr kumimoji="0" lang="en-US" altLang="ko-KR" sz="7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55D85D-1ED8-1448-67AF-311BA70E5925}"/>
              </a:ext>
            </a:extLst>
          </p:cNvPr>
          <p:cNvSpPr txBox="1"/>
          <p:nvPr/>
        </p:nvSpPr>
        <p:spPr>
          <a:xfrm>
            <a:off x="7249987" y="4752641"/>
            <a:ext cx="1649628" cy="180425"/>
          </a:xfrm>
          <a:prstGeom prst="rect">
            <a:avLst/>
          </a:prstGeom>
          <a:noFill/>
          <a:ln>
            <a:noFill/>
          </a:ln>
        </p:spPr>
        <p:txBody>
          <a:bodyPr wrap="square" lIns="0" tIns="36000" rIns="0" bIns="3600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>
                <a:latin typeface="+mn-ea"/>
              </a:rPr>
              <a:t>31-1544-454564</a:t>
            </a:r>
            <a:endParaRPr kumimoji="0" lang="en-US" altLang="ko-KR" sz="7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2289EC-7DE7-763F-6A81-C14DB125EDCF}"/>
              </a:ext>
            </a:extLst>
          </p:cNvPr>
          <p:cNvSpPr txBox="1"/>
          <p:nvPr/>
        </p:nvSpPr>
        <p:spPr>
          <a:xfrm>
            <a:off x="7249987" y="5047480"/>
            <a:ext cx="1649628" cy="180425"/>
          </a:xfrm>
          <a:prstGeom prst="rect">
            <a:avLst/>
          </a:prstGeom>
          <a:noFill/>
          <a:ln>
            <a:noFill/>
          </a:ln>
        </p:spPr>
        <p:txBody>
          <a:bodyPr wrap="square" lIns="0" tIns="36000" rIns="0" bIns="3600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>
                <a:latin typeface="+mn-ea"/>
              </a:rPr>
              <a:t>45-9999-999999</a:t>
            </a:r>
            <a:endParaRPr kumimoji="0" lang="en-US" altLang="ko-KR" sz="7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7C592C-1566-2CA6-8525-6F5634FE4A17}"/>
              </a:ext>
            </a:extLst>
          </p:cNvPr>
          <p:cNvSpPr txBox="1"/>
          <p:nvPr/>
        </p:nvSpPr>
        <p:spPr>
          <a:xfrm>
            <a:off x="3499927" y="4395715"/>
            <a:ext cx="2042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>
                <a:solidFill>
                  <a:sysClr val="windowText" lastClr="000000"/>
                </a:solidFill>
                <a:latin typeface="+mn-ea"/>
              </a:rPr>
              <a:t>계좌이체 환불계좌 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정보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B0BB24-D9AB-201C-29FE-545B8C3809B4}"/>
              </a:ext>
            </a:extLst>
          </p:cNvPr>
          <p:cNvSpPr txBox="1"/>
          <p:nvPr/>
        </p:nvSpPr>
        <p:spPr>
          <a:xfrm>
            <a:off x="4554662" y="5373193"/>
            <a:ext cx="984125" cy="1804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36000" rIns="0" bIns="3600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통장사본 파일첨부</a:t>
            </a:r>
            <a:endParaRPr kumimoji="0" lang="en-US" altLang="ko-KR" sz="7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9D1ACE-F6E4-93E0-2DB8-D9CB272C6C3A}"/>
              </a:ext>
            </a:extLst>
          </p:cNvPr>
          <p:cNvSpPr txBox="1"/>
          <p:nvPr/>
        </p:nvSpPr>
        <p:spPr>
          <a:xfrm>
            <a:off x="5597471" y="5373193"/>
            <a:ext cx="615013" cy="180425"/>
          </a:xfrm>
          <a:prstGeom prst="rect">
            <a:avLst/>
          </a:prstGeom>
          <a:solidFill>
            <a:schemeClr val="bg1"/>
          </a:solidFill>
          <a:ln>
            <a:solidFill>
              <a:srgbClr val="0066FF"/>
            </a:solidFill>
          </a:ln>
        </p:spPr>
        <p:txBody>
          <a:bodyPr wrap="square" lIns="0" tIns="36000" rIns="0" bIns="3600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>
                <a:latin typeface="+mn-ea"/>
              </a:rPr>
              <a:t>파일첨부</a:t>
            </a:r>
            <a:endParaRPr kumimoji="0" lang="en-US" altLang="ko-KR" sz="7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4E5365-98C4-B314-E2E6-89627A4D4CFA}"/>
              </a:ext>
            </a:extLst>
          </p:cNvPr>
          <p:cNvSpPr txBox="1"/>
          <p:nvPr/>
        </p:nvSpPr>
        <p:spPr>
          <a:xfrm>
            <a:off x="3499924" y="489551"/>
            <a:ext cx="323180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[AS-IS 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동일 </a:t>
            </a:r>
            <a:r>
              <a:rPr lang="ko-KR" altLang="en-US" sz="900" b="1">
                <a:solidFill>
                  <a:sysClr val="windowText" lastClr="000000"/>
                </a:solidFill>
                <a:latin typeface="+mn-ea"/>
              </a:rPr>
              <a:t>하나은행 </a:t>
            </a:r>
            <a:r>
              <a:rPr lang="en-US" altLang="ko-KR" sz="900" b="1">
                <a:solidFill>
                  <a:sysClr val="windowText" lastClr="000000"/>
                </a:solidFill>
                <a:latin typeface="+mn-ea"/>
              </a:rPr>
              <a:t>e-wallet </a:t>
            </a:r>
            <a:r>
              <a:rPr lang="ko-KR" altLang="en-US" sz="900" b="1">
                <a:solidFill>
                  <a:sysClr val="windowText" lastClr="000000"/>
                </a:solidFill>
                <a:latin typeface="+mn-ea"/>
              </a:rPr>
              <a:t>일 시 노출 화면</a:t>
            </a: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05A553-DE94-7CC1-E725-A73BF8C3AE45}"/>
              </a:ext>
            </a:extLst>
          </p:cNvPr>
          <p:cNvSpPr txBox="1"/>
          <p:nvPr/>
        </p:nvSpPr>
        <p:spPr>
          <a:xfrm>
            <a:off x="3499924" y="3313584"/>
            <a:ext cx="323180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[</a:t>
            </a:r>
            <a:r>
              <a:rPr lang="ko-KR" altLang="en-US" sz="900" b="1">
                <a:solidFill>
                  <a:sysClr val="windowText" lastClr="000000"/>
                </a:solidFill>
                <a:latin typeface="+mn-ea"/>
              </a:rPr>
              <a:t>기본결제수단 </a:t>
            </a:r>
            <a:r>
              <a:rPr lang="en-US" altLang="ko-KR" sz="900" b="1">
                <a:solidFill>
                  <a:sysClr val="windowText" lastClr="000000"/>
                </a:solidFill>
                <a:latin typeface="+mn-ea"/>
              </a:rPr>
              <a:t>– </a:t>
            </a:r>
            <a:r>
              <a:rPr lang="ko-KR" altLang="en-US" sz="900" b="1">
                <a:solidFill>
                  <a:sysClr val="windowText" lastClr="000000"/>
                </a:solidFill>
                <a:latin typeface="+mn-ea"/>
              </a:rPr>
              <a:t>계좌이체 일 시 노출 화면</a:t>
            </a: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]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4119594-1025-BBA3-7459-685B688BCD2E}"/>
              </a:ext>
            </a:extLst>
          </p:cNvPr>
          <p:cNvSpPr/>
          <p:nvPr/>
        </p:nvSpPr>
        <p:spPr>
          <a:xfrm>
            <a:off x="3618269" y="876962"/>
            <a:ext cx="5364000" cy="1176554"/>
          </a:xfrm>
          <a:prstGeom prst="rect">
            <a:avLst/>
          </a:prstGeom>
          <a:solidFill>
            <a:srgbClr val="FF0000">
              <a:alpha val="13000"/>
            </a:srgb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E-wallet </a:t>
            </a:r>
            <a:r>
              <a:rPr lang="ko-KR" altLang="en-US" sz="90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고객 </a:t>
            </a:r>
            <a:r>
              <a:rPr lang="en-US" altLang="ko-KR" sz="90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: AS-IS </a:t>
            </a:r>
            <a:r>
              <a:rPr lang="ko-KR" altLang="en-US" sz="90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동일 노출</a:t>
            </a:r>
          </a:p>
        </p:txBody>
      </p:sp>
    </p:spTree>
    <p:extLst>
      <p:ext uri="{BB962C8B-B14F-4D97-AF65-F5344CB8AC3E}">
        <p14:creationId xmlns:p14="http://schemas.microsoft.com/office/powerpoint/2010/main" val="2585950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c1df8f4-4bd0-47b5-a9b8-8f61fb47fe07}" enabled="1" method="Privileged" siteId="{2002127d-ecd5-424c-b995-a6f750055ec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530</Words>
  <Application>Microsoft Office PowerPoint</Application>
  <PresentationFormat>와이드스크린</PresentationFormat>
  <Paragraphs>191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S-CoreDream</vt:lpstr>
      <vt:lpstr>맑은 고딕</vt:lpstr>
      <vt:lpstr>Arial</vt:lpstr>
      <vt:lpstr>Cambria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함윤식[Yoonsic Ham]</dc:creator>
  <cp:lastModifiedBy>함윤식[Yoonsic Ham]</cp:lastModifiedBy>
  <cp:revision>1</cp:revision>
  <dcterms:created xsi:type="dcterms:W3CDTF">2026-01-15T04:37:27Z</dcterms:created>
  <dcterms:modified xsi:type="dcterms:W3CDTF">2026-01-15T04:39:02Z</dcterms:modified>
</cp:coreProperties>
</file>