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7" r:id="rId4"/>
    <p:sldId id="264" r:id="rId5"/>
    <p:sldId id="263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0AF"/>
    <a:srgbClr val="E6ECF1"/>
    <a:srgbClr val="FAFA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B3747A-D3B5-4F28-8B30-2B4D64228723}" v="199" dt="2026-01-26T14:51:50.3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9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94FA26-0514-4FC5-BAC5-8B5CA99D3AEE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5472DD-84FC-4040-A6FE-42130A6934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9094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472DD-84FC-4040-A6FE-42130A69342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8357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7CFEE0-CF2B-AAA3-B08E-E380F44BAC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8B23C9F-7945-89D5-D010-A00F77D24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CF04BF-7F4B-A072-A78A-9E6DD723A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5488-CAB6-4AF8-BD29-8D6B110DB645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146EE3-4750-9F99-03F0-6C7B79D1F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93A020-25C5-8767-EF1A-D305F888C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A5CF-B0DD-46CD-BD02-ED84773C32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7214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86FF4C-4A6F-CE2A-60C0-6AE7B6316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9E000C-83E7-8D3B-6DC5-D37C9107C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DCBF63-0777-AF57-D122-692EA9D87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5488-CAB6-4AF8-BD29-8D6B110DB645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60AAD9-500C-CA07-26F0-314BACCC7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3E4C50-CC5A-C7F0-D3B6-2448E9E1C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A5CF-B0DD-46CD-BD02-ED84773C32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5186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9B308F-E291-2C81-12A5-29F5AFED6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1A2D24-5DCA-35ED-91F6-D0E249C0C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5B3D6C-E085-F59E-E8D4-54601BCF3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5488-CAB6-4AF8-BD29-8D6B110DB645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0C2993-6830-D3EB-5DC9-43E1F0602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BE0198-4392-BD68-5EBD-071EB78A0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A5CF-B0DD-46CD-BD02-ED84773C32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486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9BF90A-2801-E6F6-CEB4-F73E332C3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AF8F9D-8A5B-F54D-F273-8E8100789C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A4C2671-C2D2-52CC-942E-AEBE188D19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1570AAB-358B-3E67-6415-3525AAF92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5488-CAB6-4AF8-BD29-8D6B110DB645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C0AC6F-1237-0F80-0176-228299AC7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A11BC11-47BB-3CF0-4201-473D09967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A5CF-B0DD-46CD-BD02-ED84773C32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013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A2D29B-C860-47C9-E256-24D742C94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346D26-0B51-A890-097F-5003A2AED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735F21-A038-16DA-9E14-48DB8C5510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F198F23-A590-3C07-56AC-234CC23B5D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4C6BB74-FBD9-8F9D-1CDC-CE295F9025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4165F0E-EF4C-76B8-520E-BFB14AE00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5488-CAB6-4AF8-BD29-8D6B110DB645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ADFD0B9-1C03-536B-645D-8F754FAEB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B8ED25B-97D1-5646-F61E-5923DD1FA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A5CF-B0DD-46CD-BD02-ED84773C32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9436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676E00-54F3-D8C1-BD69-5B6216D16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CDB1034-845F-2947-4445-4DDA05592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5488-CAB6-4AF8-BD29-8D6B110DB645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9C7A59F-78DB-D308-3986-06C6E6B5D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9CAE3F8-E633-DB2F-7975-B9279C156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A5CF-B0DD-46CD-BD02-ED84773C32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6376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88F0B1B-8310-7523-CD12-FA3E240C2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5488-CAB6-4AF8-BD29-8D6B110DB645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4EF2633-9EDF-0C64-C989-950FB6ABE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9F2C55-3332-86E2-3FD2-9F8F98FE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A5CF-B0DD-46CD-BD02-ED84773C32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9725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F64BF2-D299-75B5-7059-E0BC9B65E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339D96-58EA-AD87-7484-4788A3EAA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F74690A-D1BE-D500-4D41-4AB4FB29F4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0FC4F0-CE06-42AD-7823-463CBC36C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5488-CAB6-4AF8-BD29-8D6B110DB645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CBDD92-6DDC-7382-43E4-FF5FF8A1F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7AA799-9422-EABF-42C9-6A4224722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A5CF-B0DD-46CD-BD02-ED84773C32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453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A44BBE-FE62-26F5-0818-E2BD576C0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61464EF-3170-FE3E-FCA2-6EB24193A0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0304CB4-EEB6-0D1F-E314-87C43E713B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F9129C-8843-9076-C089-F84A88E1C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5488-CAB6-4AF8-BD29-8D6B110DB645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587AE6C-71E5-7E40-C715-DAA89301C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90FA3D-44C0-53A8-9EB9-9E2B01A75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A5CF-B0DD-46CD-BD02-ED84773C32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3833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A01725-0CA3-CB12-0B53-5DAD4080F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4AB58C5-5326-B091-7131-1F39E7E7B2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E61D29-F501-8E3E-4DBB-64B94BD80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5488-CAB6-4AF8-BD29-8D6B110DB645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E9F267-246E-66A0-CF2D-E695883CC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9FCAA9-7658-FBF6-45BD-FED4781B3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A5CF-B0DD-46CD-BD02-ED84773C32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778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194081A-6ACA-D42F-2BC0-659179D119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C730DCC-845E-4130-2517-D6B77A9518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797DA2-786E-01E7-E41F-3336536D3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5488-CAB6-4AF8-BD29-8D6B110DB645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9C43EC-C134-63A7-2166-797D86225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D80902-F86F-8311-739A-1D525B90F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A5CF-B0DD-46CD-BD02-ED84773C32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3795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F93E16F-8261-6D20-3A4B-8E3EA927D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E00793-7DA4-0378-E75C-3DED59CB5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87A884-9C10-42F8-1AA1-3798128778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C35488-CAB6-4AF8-BD29-8D6B110DB645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53AA42-1486-D25E-224C-9E919C75CB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BE6D7F-59BC-C59E-4EE8-F59551D1DF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D0A5CF-B0DD-46CD-BD02-ED84773C32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0175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sorincokr.sharepoint.com/:x:/s/msteams_a92a1d_505837/IQCtcSS68TuzTbp6DCvpPntFAVQR0kEF2ozjV1ek6KXCnoQ?e=FVberZ" TargetMode="External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78E0A34-9E38-0A53-6E85-FB9909DA0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537896" y="4727065"/>
            <a:ext cx="9116209" cy="7210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622BCC0E-2973-B6D6-747B-2581ED996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537895" y="1072229"/>
            <a:ext cx="9116210" cy="7210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7EB4B9D-5812-DC2B-33EF-B30C4B0EB65B}"/>
              </a:ext>
            </a:extLst>
          </p:cNvPr>
          <p:cNvSpPr txBox="1"/>
          <p:nvPr/>
        </p:nvSpPr>
        <p:spPr>
          <a:xfrm>
            <a:off x="0" y="2104702"/>
            <a:ext cx="12191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공지관리 시스템 중간 보고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700819-17C7-8B9B-B2E4-DA795A8EA2F8}"/>
              </a:ext>
            </a:extLst>
          </p:cNvPr>
          <p:cNvSpPr txBox="1"/>
          <p:nvPr/>
        </p:nvSpPr>
        <p:spPr>
          <a:xfrm>
            <a:off x="19358" y="3473117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함윤식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9428D2-5C8E-A8CF-7175-D26762719C26}"/>
              </a:ext>
            </a:extLst>
          </p:cNvPr>
          <p:cNvSpPr txBox="1"/>
          <p:nvPr/>
        </p:nvSpPr>
        <p:spPr>
          <a:xfrm>
            <a:off x="0" y="4044091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서린정보기술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177E274-7918-10CF-E4F0-5580FDD834F2}"/>
              </a:ext>
            </a:extLst>
          </p:cNvPr>
          <p:cNvGrpSpPr/>
          <p:nvPr/>
        </p:nvGrpSpPr>
        <p:grpSpPr>
          <a:xfrm>
            <a:off x="4568754" y="6212807"/>
            <a:ext cx="3027476" cy="281983"/>
            <a:chOff x="4568754" y="6212807"/>
            <a:chExt cx="3027476" cy="281983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4188D2A9-CEED-F42C-E5B8-858A50FBE4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89645"/>
            <a:stretch>
              <a:fillRect/>
            </a:stretch>
          </p:blipFill>
          <p:spPr>
            <a:xfrm>
              <a:off x="4568754" y="6212807"/>
              <a:ext cx="303817" cy="281983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2089665-93DC-B2B4-0E71-85E2A984EBD1}"/>
                </a:ext>
              </a:extLst>
            </p:cNvPr>
            <p:cNvSpPr txBox="1"/>
            <p:nvPr/>
          </p:nvSpPr>
          <p:spPr>
            <a:xfrm>
              <a:off x="4823669" y="6228825"/>
              <a:ext cx="277256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SORIN INFORMATION TECHNOLOGY</a:t>
              </a:r>
              <a:endParaRPr lang="ko-KR" altLang="en-US" sz="11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60199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5BB15-94FC-6ABE-686F-C6FD542D4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F39A426-0884-0D0C-F591-232983DA63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5" t="14578" r="-1" b="-1"/>
          <a:stretch>
            <a:fillRect/>
          </a:stretch>
        </p:blipFill>
        <p:spPr>
          <a:xfrm>
            <a:off x="1433384" y="1186839"/>
            <a:ext cx="10758616" cy="731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35441E2-51D9-4DB1-4535-4370A5039072}"/>
              </a:ext>
            </a:extLst>
          </p:cNvPr>
          <p:cNvSpPr txBox="1"/>
          <p:nvPr/>
        </p:nvSpPr>
        <p:spPr>
          <a:xfrm>
            <a:off x="162560" y="6494790"/>
            <a:ext cx="13614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>
                <a:latin typeface="Noto Sans KR" panose="020B0200000000000000" pitchFamily="50" charset="-127"/>
                <a:ea typeface="Noto Sans KR" panose="020B0200000000000000" pitchFamily="50" charset="-127"/>
              </a:rPr>
              <a:t>공지관리 시스템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v1.0</a:t>
            </a:r>
            <a:endParaRPr lang="ko-KR" alt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DA11E0-6634-324F-5B99-C14E3BD476EB}"/>
              </a:ext>
            </a:extLst>
          </p:cNvPr>
          <p:cNvSpPr txBox="1"/>
          <p:nvPr/>
        </p:nvSpPr>
        <p:spPr>
          <a:xfrm>
            <a:off x="1433384" y="638973"/>
            <a:ext cx="107586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목차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C337E8-74D2-1062-54CF-8CC4B98AE181}"/>
              </a:ext>
            </a:extLst>
          </p:cNvPr>
          <p:cNvSpPr txBox="1"/>
          <p:nvPr/>
        </p:nvSpPr>
        <p:spPr>
          <a:xfrm>
            <a:off x="1433384" y="1905098"/>
            <a:ext cx="10758616" cy="2197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01</a:t>
            </a:r>
            <a:r>
              <a:rPr lang="en-US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개요</a:t>
            </a:r>
            <a:endParaRPr lang="en-US" altLang="ko-KR" sz="2400" dirty="0">
              <a:solidFill>
                <a:schemeClr val="tx1">
                  <a:lumMod val="85000"/>
                  <a:lumOff val="1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02</a:t>
            </a:r>
            <a:r>
              <a:rPr lang="en-US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일정</a:t>
            </a:r>
            <a:endParaRPr lang="en-US" altLang="ko-KR" sz="2400" dirty="0">
              <a:solidFill>
                <a:schemeClr val="tx1">
                  <a:lumMod val="85000"/>
                  <a:lumOff val="1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03</a:t>
            </a:r>
            <a:r>
              <a:rPr lang="en-US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프로그램 시연</a:t>
            </a:r>
            <a:endParaRPr lang="en-US" altLang="ko-KR" sz="2400" dirty="0">
              <a:solidFill>
                <a:schemeClr val="tx1">
                  <a:lumMod val="85000"/>
                  <a:lumOff val="1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37BC27-AC4A-D7EC-A233-9F9A9A06997F}"/>
              </a:ext>
            </a:extLst>
          </p:cNvPr>
          <p:cNvSpPr txBox="1"/>
          <p:nvPr/>
        </p:nvSpPr>
        <p:spPr>
          <a:xfrm>
            <a:off x="1433384" y="361974"/>
            <a:ext cx="10758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CONTENTS</a:t>
            </a:r>
            <a:endParaRPr lang="ko-KR" altLang="en-US" sz="1200" b="1" dirty="0">
              <a:solidFill>
                <a:schemeClr val="tx1">
                  <a:lumMod val="85000"/>
                  <a:lumOff val="1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3DF665-7B90-36BD-361B-0C3B21AF6E44}"/>
              </a:ext>
            </a:extLst>
          </p:cNvPr>
          <p:cNvSpPr txBox="1"/>
          <p:nvPr/>
        </p:nvSpPr>
        <p:spPr>
          <a:xfrm>
            <a:off x="1433384" y="1272035"/>
            <a:ext cx="10758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bg2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해당 목차 기준으로 발표를 진행합니다</a:t>
            </a:r>
            <a:r>
              <a:rPr lang="en-US" altLang="ko-KR" sz="1200" b="1" dirty="0">
                <a:solidFill>
                  <a:schemeClr val="bg2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200" b="1" dirty="0">
              <a:solidFill>
                <a:schemeClr val="bg2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D12C4801-C91C-5C31-C6E3-15ACACC85875}"/>
              </a:ext>
            </a:extLst>
          </p:cNvPr>
          <p:cNvGrpSpPr/>
          <p:nvPr/>
        </p:nvGrpSpPr>
        <p:grpSpPr>
          <a:xfrm>
            <a:off x="9119782" y="6502227"/>
            <a:ext cx="3027476" cy="281983"/>
            <a:chOff x="4568754" y="6212807"/>
            <a:chExt cx="3027476" cy="281983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3077E2B1-296C-5B76-E000-A20764F99E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89645"/>
            <a:stretch>
              <a:fillRect/>
            </a:stretch>
          </p:blipFill>
          <p:spPr>
            <a:xfrm>
              <a:off x="4568754" y="6212807"/>
              <a:ext cx="303817" cy="281983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503C602-6698-EC00-D57F-6B8B21D80315}"/>
                </a:ext>
              </a:extLst>
            </p:cNvPr>
            <p:cNvSpPr txBox="1"/>
            <p:nvPr/>
          </p:nvSpPr>
          <p:spPr>
            <a:xfrm>
              <a:off x="4823669" y="6228825"/>
              <a:ext cx="277256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SORIN INFORMATION TECHNOLOGY</a:t>
              </a:r>
              <a:endParaRPr lang="ko-KR" altLang="en-US" sz="11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08813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4109E-912D-D577-7674-A93DFEFB5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10">
            <a:extLst>
              <a:ext uri="{FF2B5EF4-FFF2-40B4-BE49-F238E27FC236}">
                <a16:creationId xmlns:a16="http://schemas.microsoft.com/office/drawing/2014/main" id="{85AD56EF-B1E1-060C-F007-B3D48D058BC2}"/>
              </a:ext>
            </a:extLst>
          </p:cNvPr>
          <p:cNvSpPr/>
          <p:nvPr/>
        </p:nvSpPr>
        <p:spPr>
          <a:xfrm>
            <a:off x="327286" y="3232927"/>
            <a:ext cx="11434496" cy="2504338"/>
          </a:xfrm>
          <a:prstGeom prst="rect">
            <a:avLst/>
          </a:prstGeom>
          <a:solidFill>
            <a:srgbClr val="FFFFFF"/>
          </a:solidFill>
          <a:ln>
            <a:solidFill>
              <a:srgbClr val="DCE1EA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l" defTabSz="116128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>
              <a:defRPr/>
            </a:pPr>
            <a:endParaRPr lang="ko-KR" altLang="en-US" dirty="0"/>
          </a:p>
        </p:txBody>
      </p:sp>
      <p:sp>
        <p:nvSpPr>
          <p:cNvPr id="20" name="Rectangle 10">
            <a:extLst>
              <a:ext uri="{FF2B5EF4-FFF2-40B4-BE49-F238E27FC236}">
                <a16:creationId xmlns:a16="http://schemas.microsoft.com/office/drawing/2014/main" id="{FCE3373D-DF32-F75A-CF85-3B98EF97B75B}"/>
              </a:ext>
            </a:extLst>
          </p:cNvPr>
          <p:cNvSpPr/>
          <p:nvPr/>
        </p:nvSpPr>
        <p:spPr>
          <a:xfrm>
            <a:off x="4917989" y="753788"/>
            <a:ext cx="6876744" cy="2274574"/>
          </a:xfrm>
          <a:prstGeom prst="rect">
            <a:avLst/>
          </a:prstGeom>
          <a:solidFill>
            <a:srgbClr val="FFFFFF"/>
          </a:solidFill>
          <a:ln>
            <a:solidFill>
              <a:srgbClr val="DCE1EA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l" defTabSz="116128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>
              <a:defRPr/>
            </a:pPr>
            <a:endParaRPr lang="ko-KR" alt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EFFB29F-73D7-8E41-A705-0CC182244F1B}"/>
              </a:ext>
            </a:extLst>
          </p:cNvPr>
          <p:cNvGrpSpPr/>
          <p:nvPr/>
        </p:nvGrpSpPr>
        <p:grpSpPr>
          <a:xfrm>
            <a:off x="0" y="6348156"/>
            <a:ext cx="12192000" cy="429217"/>
            <a:chOff x="0" y="6327183"/>
            <a:chExt cx="12192000" cy="429217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C28647E2-10A5-36BE-98C4-DAAE726466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6327183"/>
              <a:ext cx="12192000" cy="96434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D948C42-EEC1-454B-D72D-58B7A5D6C3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89645"/>
            <a:stretch>
              <a:fillRect/>
            </a:stretch>
          </p:blipFill>
          <p:spPr>
            <a:xfrm>
              <a:off x="9185623" y="6474417"/>
              <a:ext cx="303817" cy="281983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A42901F-DC55-AC04-20B2-1F57FE5C205F}"/>
              </a:ext>
            </a:extLst>
          </p:cNvPr>
          <p:cNvSpPr txBox="1"/>
          <p:nvPr/>
        </p:nvSpPr>
        <p:spPr>
          <a:xfrm>
            <a:off x="369870" y="770304"/>
            <a:ext cx="5475988" cy="615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추진목적　</a:t>
            </a:r>
            <a:endParaRPr lang="en-US" altLang="ko-KR" sz="2000" b="1" dirty="0">
              <a:solidFill>
                <a:schemeClr val="tx1">
                  <a:lumMod val="85000"/>
                  <a:lumOff val="1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0C1E67-A01F-985F-6E00-66BC4A964932}"/>
              </a:ext>
            </a:extLst>
          </p:cNvPr>
          <p:cNvSpPr txBox="1"/>
          <p:nvPr/>
        </p:nvSpPr>
        <p:spPr>
          <a:xfrm>
            <a:off x="369869" y="1402052"/>
            <a:ext cx="4540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공지 관리 시스템을 신규 구축하여 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Outlook 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연동 공지 발송 체계 수립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BBA8A5-B656-49E1-824D-AF18D17D4CC5}"/>
              </a:ext>
            </a:extLst>
          </p:cNvPr>
          <p:cNvSpPr txBox="1"/>
          <p:nvPr/>
        </p:nvSpPr>
        <p:spPr>
          <a:xfrm>
            <a:off x="334602" y="3060261"/>
            <a:ext cx="2370221" cy="615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주요기능　</a:t>
            </a:r>
            <a:endParaRPr lang="en-US" altLang="ko-KR" sz="2000" b="1" dirty="0">
              <a:solidFill>
                <a:schemeClr val="tx1">
                  <a:lumMod val="85000"/>
                  <a:lumOff val="1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263FC3-C2D6-54CB-3BF7-7A58CD34DDAC}"/>
              </a:ext>
            </a:extLst>
          </p:cNvPr>
          <p:cNvSpPr txBox="1"/>
          <p:nvPr/>
        </p:nvSpPr>
        <p:spPr>
          <a:xfrm>
            <a:off x="286058" y="0"/>
            <a:ext cx="11905941" cy="615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01 </a:t>
            </a:r>
            <a:r>
              <a:rPr lang="ko-KR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개요</a:t>
            </a:r>
            <a:endParaRPr lang="en-US" altLang="ko-KR" sz="2000" b="1" dirty="0">
              <a:solidFill>
                <a:schemeClr val="tx1">
                  <a:lumMod val="85000"/>
                  <a:lumOff val="1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9" name="그림 8" descr="텍스트, 스크린샷, 폰트, 일렉트릭 블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D9320F8-EC91-D277-99B8-3F74ACAD5A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5813" y="763397"/>
            <a:ext cx="6875168" cy="2265553"/>
          </a:xfrm>
          <a:prstGeom prst="rect">
            <a:avLst/>
          </a:prstGeom>
        </p:spPr>
      </p:pic>
      <p:pic>
        <p:nvPicPr>
          <p:cNvPr id="13" name="그림 12" descr="텍스트, 원, 일렉트릭 블루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9A70E34-CA7F-A326-9311-6DEE391D911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2306" b="17008"/>
          <a:stretch>
            <a:fillRect/>
          </a:stretch>
        </p:blipFill>
        <p:spPr>
          <a:xfrm>
            <a:off x="594668" y="3931773"/>
            <a:ext cx="1380173" cy="139003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52A37A7-F230-CB85-92B6-337D41CFCABB}"/>
              </a:ext>
            </a:extLst>
          </p:cNvPr>
          <p:cNvSpPr txBox="1"/>
          <p:nvPr/>
        </p:nvSpPr>
        <p:spPr>
          <a:xfrm>
            <a:off x="2039314" y="4316726"/>
            <a:ext cx="25867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   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공지 등록 화면</a:t>
            </a:r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   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공지 발송 히스토리 화면</a:t>
            </a:r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   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공지 발송 결재 화면</a:t>
            </a:r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대시보드</a:t>
            </a:r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관리자 화면</a:t>
            </a:r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로그인 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SSO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연동</a:t>
            </a:r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C890F3-AEEB-F700-E111-2C8E3D9646D3}"/>
              </a:ext>
            </a:extLst>
          </p:cNvPr>
          <p:cNvSpPr txBox="1"/>
          <p:nvPr/>
        </p:nvSpPr>
        <p:spPr>
          <a:xfrm>
            <a:off x="2045713" y="3911152"/>
            <a:ext cx="2586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1.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공지 등록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승인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발송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집계</a:t>
            </a:r>
          </a:p>
        </p:txBody>
      </p:sp>
      <p:pic>
        <p:nvPicPr>
          <p:cNvPr id="17" name="그림 16" descr="원, 일렉트릭 블루, 폰트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6C8863-7164-61BB-55DF-DFE265DA8C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4058" y="3899777"/>
            <a:ext cx="1333385" cy="134803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22A24D3-B235-8149-E789-23C861AD61B5}"/>
              </a:ext>
            </a:extLst>
          </p:cNvPr>
          <p:cNvSpPr txBox="1"/>
          <p:nvPr/>
        </p:nvSpPr>
        <p:spPr>
          <a:xfrm>
            <a:off x="5749101" y="4321485"/>
            <a:ext cx="25867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  Outlook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메일 발송</a:t>
            </a:r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  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공지일정 캘린더 등록</a:t>
            </a:r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72512F-47EB-07EE-2836-D785766BD6F2}"/>
              </a:ext>
            </a:extLst>
          </p:cNvPr>
          <p:cNvSpPr txBox="1"/>
          <p:nvPr/>
        </p:nvSpPr>
        <p:spPr>
          <a:xfrm>
            <a:off x="5768776" y="3912072"/>
            <a:ext cx="2586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2. MS Graph API</a:t>
            </a:r>
            <a:endParaRPr lang="ko-KR" altLang="en-US" sz="1200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AF294BEF-EA2B-0AAB-BD93-E38253E46F61}"/>
              </a:ext>
            </a:extLst>
          </p:cNvPr>
          <p:cNvGrpSpPr/>
          <p:nvPr/>
        </p:nvGrpSpPr>
        <p:grpSpPr>
          <a:xfrm>
            <a:off x="7728489" y="3929432"/>
            <a:ext cx="1358187" cy="1520963"/>
            <a:chOff x="9215118" y="3685983"/>
            <a:chExt cx="1528317" cy="1711483"/>
          </a:xfrm>
        </p:grpSpPr>
        <p:pic>
          <p:nvPicPr>
            <p:cNvPr id="28" name="그림 27" descr="로고, 폰트, 그래픽, 텍스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DBD8C467-BE1B-9DC9-8430-C0932D0D8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215118" y="4132429"/>
              <a:ext cx="676369" cy="857370"/>
            </a:xfrm>
            <a:prstGeom prst="rect">
              <a:avLst/>
            </a:prstGeom>
          </p:spPr>
        </p:pic>
        <p:pic>
          <p:nvPicPr>
            <p:cNvPr id="30" name="그림 29" descr="로고, 텍스트, 폰트, 그래픽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DC4D013C-51EA-98E2-7CE7-C99374B5555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886495" y="3685983"/>
              <a:ext cx="657317" cy="809738"/>
            </a:xfrm>
            <a:prstGeom prst="rect">
              <a:avLst/>
            </a:prstGeom>
          </p:spPr>
        </p:pic>
        <p:pic>
          <p:nvPicPr>
            <p:cNvPr id="32" name="그림 31" descr="텍스트, 공구,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515069F2-1410-FDE8-E831-9A6C48AEC4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000381" y="4578202"/>
              <a:ext cx="743054" cy="819264"/>
            </a:xfrm>
            <a:prstGeom prst="rect">
              <a:avLst/>
            </a:prstGeom>
          </p:spPr>
        </p:pic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4465FB01-DF5B-D1B1-3784-916CF6F9D2E2}"/>
              </a:ext>
            </a:extLst>
          </p:cNvPr>
          <p:cNvSpPr txBox="1"/>
          <p:nvPr/>
        </p:nvSpPr>
        <p:spPr>
          <a:xfrm>
            <a:off x="9151040" y="3916765"/>
            <a:ext cx="2586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3. 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시스템 기능 확장</a:t>
            </a:r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DA5F73A-A621-15AD-8194-73BE2706A375}"/>
              </a:ext>
            </a:extLst>
          </p:cNvPr>
          <p:cNvSpPr txBox="1"/>
          <p:nvPr/>
        </p:nvSpPr>
        <p:spPr>
          <a:xfrm>
            <a:off x="9186239" y="4314087"/>
            <a:ext cx="25867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알림 연계 표준 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API Guide 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수립</a:t>
            </a:r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서비스 별 알림 연계 기능 구현</a:t>
            </a:r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2FB8B07-2EEA-BDC3-D3F0-FEAAAA3231C1}"/>
              </a:ext>
            </a:extLst>
          </p:cNvPr>
          <p:cNvSpPr txBox="1"/>
          <p:nvPr/>
        </p:nvSpPr>
        <p:spPr>
          <a:xfrm>
            <a:off x="162560" y="6494790"/>
            <a:ext cx="13614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>
                <a:latin typeface="Noto Sans KR" panose="020B0200000000000000" pitchFamily="50" charset="-127"/>
                <a:ea typeface="Noto Sans KR" panose="020B0200000000000000" pitchFamily="50" charset="-127"/>
              </a:rPr>
              <a:t>공지관리 시스템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v1.0</a:t>
            </a:r>
            <a:endParaRPr lang="ko-KR" alt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70A50CB-9B45-76BB-4EAB-12E0E561C421}"/>
              </a:ext>
            </a:extLst>
          </p:cNvPr>
          <p:cNvGrpSpPr/>
          <p:nvPr/>
        </p:nvGrpSpPr>
        <p:grpSpPr>
          <a:xfrm>
            <a:off x="9164524" y="6510616"/>
            <a:ext cx="3027476" cy="281983"/>
            <a:chOff x="4568754" y="6212807"/>
            <a:chExt cx="3027476" cy="281983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78ED99C5-3EA5-3009-F0F0-CCB7A93857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89645"/>
            <a:stretch>
              <a:fillRect/>
            </a:stretch>
          </p:blipFill>
          <p:spPr>
            <a:xfrm>
              <a:off x="4568754" y="6212807"/>
              <a:ext cx="303817" cy="281983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CA30B30-9221-32F8-2BD5-86F4B3D00020}"/>
                </a:ext>
              </a:extLst>
            </p:cNvPr>
            <p:cNvSpPr txBox="1"/>
            <p:nvPr/>
          </p:nvSpPr>
          <p:spPr>
            <a:xfrm>
              <a:off x="4823669" y="6228825"/>
              <a:ext cx="277256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SORIN INFORMATION TECHNOLOGY</a:t>
              </a:r>
              <a:endParaRPr lang="ko-KR" altLang="en-US" sz="11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4663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36813-4E92-B425-05FE-BDDFC3B08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10">
            <a:extLst>
              <a:ext uri="{FF2B5EF4-FFF2-40B4-BE49-F238E27FC236}">
                <a16:creationId xmlns:a16="http://schemas.microsoft.com/office/drawing/2014/main" id="{28842B8A-B6AA-6992-1A94-54EDF48DBFB9}"/>
              </a:ext>
            </a:extLst>
          </p:cNvPr>
          <p:cNvSpPr/>
          <p:nvPr/>
        </p:nvSpPr>
        <p:spPr>
          <a:xfrm>
            <a:off x="360238" y="2974019"/>
            <a:ext cx="11434496" cy="2812673"/>
          </a:xfrm>
          <a:prstGeom prst="rect">
            <a:avLst/>
          </a:prstGeom>
          <a:solidFill>
            <a:srgbClr val="FFFFFF"/>
          </a:solidFill>
          <a:ln>
            <a:solidFill>
              <a:srgbClr val="DCE1EA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l" defTabSz="116128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>
              <a:defRPr/>
            </a:pP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2D0D1B0-7C89-6482-AF29-09C2CA0CA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27183"/>
            <a:ext cx="12192000" cy="9643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E2CAE7A-8E6D-D611-0096-99FAD2D244B0}"/>
              </a:ext>
            </a:extLst>
          </p:cNvPr>
          <p:cNvSpPr txBox="1"/>
          <p:nvPr/>
        </p:nvSpPr>
        <p:spPr>
          <a:xfrm>
            <a:off x="605003" y="770304"/>
            <a:ext cx="5475988" cy="615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진행현황　</a:t>
            </a:r>
            <a:endParaRPr lang="en-US" altLang="ko-KR" sz="2000" b="1" dirty="0">
              <a:solidFill>
                <a:schemeClr val="tx1">
                  <a:lumMod val="85000"/>
                  <a:lumOff val="1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FB9C87-ACFF-763B-0CE6-44C1A04160E8}"/>
              </a:ext>
            </a:extLst>
          </p:cNvPr>
          <p:cNvSpPr txBox="1"/>
          <p:nvPr/>
        </p:nvSpPr>
        <p:spPr>
          <a:xfrm>
            <a:off x="3352800" y="2656086"/>
            <a:ext cx="25603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26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년 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월 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29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 공지관리 시스템 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WBS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기준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9B5E8B-7864-9955-73F5-D7FB24FCA745}"/>
              </a:ext>
            </a:extLst>
          </p:cNvPr>
          <p:cNvSpPr txBox="1"/>
          <p:nvPr/>
        </p:nvSpPr>
        <p:spPr>
          <a:xfrm>
            <a:off x="396745" y="2838319"/>
            <a:ext cx="2370221" cy="615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완료된 기능　</a:t>
            </a:r>
            <a:endParaRPr lang="en-US" altLang="ko-KR" sz="2000" b="1" dirty="0">
              <a:solidFill>
                <a:schemeClr val="tx1">
                  <a:lumMod val="85000"/>
                  <a:lumOff val="1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B5C499-878D-0501-8EEB-8A42594385B9}"/>
              </a:ext>
            </a:extLst>
          </p:cNvPr>
          <p:cNvSpPr txBox="1"/>
          <p:nvPr/>
        </p:nvSpPr>
        <p:spPr>
          <a:xfrm>
            <a:off x="286058" y="0"/>
            <a:ext cx="11905941" cy="615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02 </a:t>
            </a:r>
            <a:r>
              <a:rPr lang="ko-KR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일정</a:t>
            </a:r>
            <a:endParaRPr lang="en-US" altLang="ko-KR" sz="2000" b="1" dirty="0">
              <a:solidFill>
                <a:schemeClr val="tx1">
                  <a:lumMod val="85000"/>
                  <a:lumOff val="1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A8F665C-FB97-DC46-EA81-B58AB65A1F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130830"/>
              </p:ext>
            </p:extLst>
          </p:nvPr>
        </p:nvGraphicFramePr>
        <p:xfrm>
          <a:off x="588579" y="1746862"/>
          <a:ext cx="5191260" cy="381000"/>
        </p:xfrm>
        <a:graphic>
          <a:graphicData uri="http://schemas.openxmlformats.org/drawingml/2006/table">
            <a:tbl>
              <a:tblPr/>
              <a:tblGrid>
                <a:gridCol w="809297">
                  <a:extLst>
                    <a:ext uri="{9D8B030D-6E8A-4147-A177-3AD203B41FA5}">
                      <a16:colId xmlns:a16="http://schemas.microsoft.com/office/drawing/2014/main" val="3215266205"/>
                    </a:ext>
                  </a:extLst>
                </a:gridCol>
                <a:gridCol w="1668111">
                  <a:extLst>
                    <a:ext uri="{9D8B030D-6E8A-4147-A177-3AD203B41FA5}">
                      <a16:colId xmlns:a16="http://schemas.microsoft.com/office/drawing/2014/main" val="2203087496"/>
                    </a:ext>
                  </a:extLst>
                </a:gridCol>
                <a:gridCol w="1011615">
                  <a:extLst>
                    <a:ext uri="{9D8B030D-6E8A-4147-A177-3AD203B41FA5}">
                      <a16:colId xmlns:a16="http://schemas.microsoft.com/office/drawing/2014/main" val="4044865121"/>
                    </a:ext>
                  </a:extLst>
                </a:gridCol>
                <a:gridCol w="1702237">
                  <a:extLst>
                    <a:ext uri="{9D8B030D-6E8A-4147-A177-3AD203B41FA5}">
                      <a16:colId xmlns:a16="http://schemas.microsoft.com/office/drawing/2014/main" val="116456637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rgbClr val="333333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전체개발주차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11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rgbClr val="333333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진행주차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7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971314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211DFE1-4CD2-7325-BF41-B1B3C890F938}"/>
              </a:ext>
            </a:extLst>
          </p:cNvPr>
          <p:cNvSpPr txBox="1"/>
          <p:nvPr/>
        </p:nvSpPr>
        <p:spPr>
          <a:xfrm>
            <a:off x="635484" y="1388990"/>
            <a:ext cx="29872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기간 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2025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년 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12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월 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15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 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– 2026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년 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월 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28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 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323931D9-B4A5-AD45-9C89-DCDC3D39B6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6938442"/>
              </p:ext>
            </p:extLst>
          </p:nvPr>
        </p:nvGraphicFramePr>
        <p:xfrm>
          <a:off x="588579" y="2208417"/>
          <a:ext cx="5185205" cy="381000"/>
        </p:xfrm>
        <a:graphic>
          <a:graphicData uri="http://schemas.openxmlformats.org/drawingml/2006/table">
            <a:tbl>
              <a:tblPr/>
              <a:tblGrid>
                <a:gridCol w="809297">
                  <a:extLst>
                    <a:ext uri="{9D8B030D-6E8A-4147-A177-3AD203B41FA5}">
                      <a16:colId xmlns:a16="http://schemas.microsoft.com/office/drawing/2014/main" val="3322915914"/>
                    </a:ext>
                  </a:extLst>
                </a:gridCol>
                <a:gridCol w="1657311">
                  <a:extLst>
                    <a:ext uri="{9D8B030D-6E8A-4147-A177-3AD203B41FA5}">
                      <a16:colId xmlns:a16="http://schemas.microsoft.com/office/drawing/2014/main" val="2231831824"/>
                    </a:ext>
                  </a:extLst>
                </a:gridCol>
                <a:gridCol w="1016131">
                  <a:extLst>
                    <a:ext uri="{9D8B030D-6E8A-4147-A177-3AD203B41FA5}">
                      <a16:colId xmlns:a16="http://schemas.microsoft.com/office/drawing/2014/main" val="4008987168"/>
                    </a:ext>
                  </a:extLst>
                </a:gridCol>
                <a:gridCol w="1702466">
                  <a:extLst>
                    <a:ext uri="{9D8B030D-6E8A-4147-A177-3AD203B41FA5}">
                      <a16:colId xmlns:a16="http://schemas.microsoft.com/office/drawing/2014/main" val="253940186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rgbClr val="333333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계획진척률</a:t>
                      </a:r>
                      <a:endParaRPr lang="ko-KR" alt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1" i="0" u="none" strike="noStrike" dirty="0">
                          <a:solidFill>
                            <a:srgbClr val="333333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63.64%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rgbClr val="333333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개발진척률</a:t>
                      </a:r>
                      <a:endParaRPr lang="ko-KR" altLang="en-US" sz="1000" b="1" i="0" u="none" strike="noStrike" dirty="0">
                        <a:solidFill>
                          <a:srgbClr val="333333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1" i="0" u="none" strike="noStrike" dirty="0">
                          <a:solidFill>
                            <a:srgbClr val="333333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83%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2723"/>
                  </a:ext>
                </a:extLst>
              </a:tr>
            </a:tbl>
          </a:graphicData>
        </a:graphic>
      </p:graphicFrame>
      <p:pic>
        <p:nvPicPr>
          <p:cNvPr id="32" name="그림 31" descr="텍스트, 원, 일렉트릭 블루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9C8A80D-B7AA-C19A-6DDE-0AEBC97F7B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306" b="17008"/>
          <a:stretch>
            <a:fillRect/>
          </a:stretch>
        </p:blipFill>
        <p:spPr>
          <a:xfrm>
            <a:off x="550280" y="3807486"/>
            <a:ext cx="1380173" cy="139003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F4E52001-7753-CEC0-76F3-C8D17662AA1B}"/>
              </a:ext>
            </a:extLst>
          </p:cNvPr>
          <p:cNvSpPr txBox="1"/>
          <p:nvPr/>
        </p:nvSpPr>
        <p:spPr>
          <a:xfrm>
            <a:off x="2163601" y="4139173"/>
            <a:ext cx="25867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공지 등록 화면 </a:t>
            </a:r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공지 발송 히스토리 화면</a:t>
            </a:r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   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공지 발송 결재 화면</a:t>
            </a:r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대시보드</a:t>
            </a:r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관리자 화면</a:t>
            </a:r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로그인 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SSO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연동</a:t>
            </a:r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1DE303-7D32-1339-92D9-8FDFD2F5E8EE}"/>
              </a:ext>
            </a:extLst>
          </p:cNvPr>
          <p:cNvSpPr txBox="1"/>
          <p:nvPr/>
        </p:nvSpPr>
        <p:spPr>
          <a:xfrm>
            <a:off x="2143367" y="3751353"/>
            <a:ext cx="25867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1.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공지 등록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승인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발송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집계 </a:t>
            </a:r>
            <a:r>
              <a:rPr lang="en-US" altLang="ko-KR" sz="1400" b="1" dirty="0">
                <a:solidFill>
                  <a:srgbClr val="4F8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400" b="1" dirty="0">
                <a:solidFill>
                  <a:srgbClr val="4F8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완료</a:t>
            </a:r>
            <a:r>
              <a:rPr lang="en-US" altLang="ko-KR" sz="1400" b="1" dirty="0">
                <a:solidFill>
                  <a:srgbClr val="4F8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sz="1200" b="1" dirty="0">
              <a:solidFill>
                <a:srgbClr val="4F80AF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5" name="그림 34" descr="원, 일렉트릭 블루, 폰트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B28015-81ED-3E25-2CD1-B924BCCD83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7021" y="3855389"/>
            <a:ext cx="1333385" cy="1348038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45CB3482-93C5-82CA-E6C6-8C1DA8B4BFF7}"/>
              </a:ext>
            </a:extLst>
          </p:cNvPr>
          <p:cNvSpPr txBox="1"/>
          <p:nvPr/>
        </p:nvSpPr>
        <p:spPr>
          <a:xfrm>
            <a:off x="5979921" y="4161687"/>
            <a:ext cx="25867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  Outlook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메일 발송 </a:t>
            </a:r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  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공지일정 캘린더 등록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F17371F-B773-83C7-CAC3-809190DE7B69}"/>
              </a:ext>
            </a:extLst>
          </p:cNvPr>
          <p:cNvSpPr txBox="1"/>
          <p:nvPr/>
        </p:nvSpPr>
        <p:spPr>
          <a:xfrm>
            <a:off x="5999595" y="3707886"/>
            <a:ext cx="25867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2. MS Graph API </a:t>
            </a:r>
            <a:r>
              <a:rPr lang="en-US" altLang="ko-KR" sz="1400" b="1" dirty="0">
                <a:solidFill>
                  <a:srgbClr val="4F8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400" b="1" dirty="0">
                <a:solidFill>
                  <a:srgbClr val="4F8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완료</a:t>
            </a:r>
            <a:r>
              <a:rPr lang="en-US" altLang="ko-KR" sz="1400" b="1" dirty="0">
                <a:solidFill>
                  <a:srgbClr val="4F8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sz="1200" b="1" dirty="0">
              <a:solidFill>
                <a:srgbClr val="4F80AF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8D44506A-720E-F35F-0AFD-2DD21B0C9A1A}"/>
              </a:ext>
            </a:extLst>
          </p:cNvPr>
          <p:cNvGrpSpPr/>
          <p:nvPr/>
        </p:nvGrpSpPr>
        <p:grpSpPr>
          <a:xfrm>
            <a:off x="8127985" y="3840656"/>
            <a:ext cx="1358187" cy="1520963"/>
            <a:chOff x="9215118" y="3685983"/>
            <a:chExt cx="1528317" cy="1711483"/>
          </a:xfrm>
        </p:grpSpPr>
        <p:pic>
          <p:nvPicPr>
            <p:cNvPr id="39" name="그림 38" descr="로고, 폰트, 그래픽, 텍스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F061E72A-4271-C8AB-7AB0-9194634F5DB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15118" y="4132429"/>
              <a:ext cx="676369" cy="857370"/>
            </a:xfrm>
            <a:prstGeom prst="rect">
              <a:avLst/>
            </a:prstGeom>
          </p:spPr>
        </p:pic>
        <p:pic>
          <p:nvPicPr>
            <p:cNvPr id="40" name="그림 39" descr="로고, 텍스트, 폰트, 그래픽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34A5EF8-DD34-478D-CE16-961EDC4A4C3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886495" y="3685983"/>
              <a:ext cx="657317" cy="809738"/>
            </a:xfrm>
            <a:prstGeom prst="rect">
              <a:avLst/>
            </a:prstGeom>
          </p:spPr>
        </p:pic>
        <p:pic>
          <p:nvPicPr>
            <p:cNvPr id="41" name="그림 40" descr="텍스트, 공구,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1D5C3A0-8984-D6E7-A5C9-A2E378D03C6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000381" y="4578202"/>
              <a:ext cx="743054" cy="819264"/>
            </a:xfrm>
            <a:prstGeom prst="rect">
              <a:avLst/>
            </a:prstGeom>
          </p:spPr>
        </p:pic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5C5B5666-0C50-3509-BE1E-04F39B8F4D0D}"/>
              </a:ext>
            </a:extLst>
          </p:cNvPr>
          <p:cNvSpPr txBox="1"/>
          <p:nvPr/>
        </p:nvSpPr>
        <p:spPr>
          <a:xfrm>
            <a:off x="9500707" y="3720611"/>
            <a:ext cx="2586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3. 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시스템 기능 확장 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미완료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51EC601-6E55-17BC-9131-E8F65C1575E0}"/>
              </a:ext>
            </a:extLst>
          </p:cNvPr>
          <p:cNvSpPr txBox="1"/>
          <p:nvPr/>
        </p:nvSpPr>
        <p:spPr>
          <a:xfrm>
            <a:off x="9470325" y="4172044"/>
            <a:ext cx="25867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알림 연계 표준 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API Guide 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수립</a:t>
            </a:r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서비스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별 알림 연계 기능 구현</a:t>
            </a:r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A0902C66-2DD7-2AD8-5219-FF68E257D40E}"/>
              </a:ext>
            </a:extLst>
          </p:cNvPr>
          <p:cNvSpPr/>
          <p:nvPr/>
        </p:nvSpPr>
        <p:spPr>
          <a:xfrm>
            <a:off x="7978802" y="2968388"/>
            <a:ext cx="3817398" cy="2822812"/>
          </a:xfrm>
          <a:prstGeom prst="rect">
            <a:avLst/>
          </a:prstGeom>
          <a:solidFill>
            <a:schemeClr val="bg2">
              <a:lumMod val="7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Rectangle 3">
            <a:extLst>
              <a:ext uri="{FF2B5EF4-FFF2-40B4-BE49-F238E27FC236}">
                <a16:creationId xmlns:a16="http://schemas.microsoft.com/office/drawing/2014/main" id="{4A0F723F-8D13-73E9-5699-60DEC7A60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3241" y="2677517"/>
            <a:ext cx="12192000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8"/>
              </a:rPr>
              <a:t>공지관리시스템_WBS.xlsx</a:t>
            </a:r>
            <a:endParaRPr kumimoji="0" lang="ko-KR" altLang="ko-K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308E972-F508-C04E-43C4-2E129AFF1207}"/>
              </a:ext>
            </a:extLst>
          </p:cNvPr>
          <p:cNvSpPr txBox="1"/>
          <p:nvPr/>
        </p:nvSpPr>
        <p:spPr>
          <a:xfrm>
            <a:off x="162560" y="6494790"/>
            <a:ext cx="13614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>
                <a:latin typeface="Noto Sans KR" panose="020B0200000000000000" pitchFamily="50" charset="-127"/>
                <a:ea typeface="Noto Sans KR" panose="020B0200000000000000" pitchFamily="50" charset="-127"/>
              </a:rPr>
              <a:t>공지관리 시스템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v1.0</a:t>
            </a:r>
            <a:endParaRPr lang="ko-KR" alt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24A6D5-92DE-5A42-F80B-6CB038333D79}"/>
              </a:ext>
            </a:extLst>
          </p:cNvPr>
          <p:cNvSpPr txBox="1"/>
          <p:nvPr/>
        </p:nvSpPr>
        <p:spPr>
          <a:xfrm>
            <a:off x="7970877" y="2804288"/>
            <a:ext cx="2370221" cy="615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진행중 기능</a:t>
            </a:r>
            <a:endParaRPr lang="en-US" altLang="ko-KR" sz="2000" b="1" dirty="0">
              <a:solidFill>
                <a:schemeClr val="tx1">
                  <a:lumMod val="85000"/>
                  <a:lumOff val="1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446C3D0B-AB3B-A615-F3A4-B14D4903A142}"/>
              </a:ext>
            </a:extLst>
          </p:cNvPr>
          <p:cNvGrpSpPr/>
          <p:nvPr/>
        </p:nvGrpSpPr>
        <p:grpSpPr>
          <a:xfrm>
            <a:off x="9164524" y="6510616"/>
            <a:ext cx="3027476" cy="281983"/>
            <a:chOff x="4568754" y="6212807"/>
            <a:chExt cx="3027476" cy="281983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E6292CF2-59A1-C654-33BC-FFC93803BA1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r="89645"/>
            <a:stretch>
              <a:fillRect/>
            </a:stretch>
          </p:blipFill>
          <p:spPr>
            <a:xfrm>
              <a:off x="4568754" y="6212807"/>
              <a:ext cx="303817" cy="281983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47573B2-3800-D0DC-03B5-C42C78CC56C5}"/>
                </a:ext>
              </a:extLst>
            </p:cNvPr>
            <p:cNvSpPr txBox="1"/>
            <p:nvPr/>
          </p:nvSpPr>
          <p:spPr>
            <a:xfrm>
              <a:off x="4823669" y="6228825"/>
              <a:ext cx="277256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SORIN INFORMATION TECHNOLOGY</a:t>
              </a:r>
              <a:endParaRPr lang="ko-KR" altLang="en-US" sz="11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69662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4AF09-81EA-30AE-EE52-7FC5AB946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60F232A-8419-EB31-9D67-646EEE9A8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27183"/>
            <a:ext cx="12192000" cy="9643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BD16AB2-F073-5A0D-9DFF-7D35593EACCF}"/>
              </a:ext>
            </a:extLst>
          </p:cNvPr>
          <p:cNvSpPr txBox="1"/>
          <p:nvPr/>
        </p:nvSpPr>
        <p:spPr>
          <a:xfrm>
            <a:off x="286058" y="0"/>
            <a:ext cx="11905941" cy="615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03 </a:t>
            </a:r>
            <a:r>
              <a:rPr lang="ko-KR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프로그램 시연</a:t>
            </a:r>
            <a:endParaRPr lang="en-US" altLang="ko-KR" sz="2000" b="1" dirty="0">
              <a:solidFill>
                <a:schemeClr val="tx1">
                  <a:lumMod val="85000"/>
                  <a:lumOff val="1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3D39D4A2-C71B-C18D-CD75-ACBBEFB7D7FE}"/>
              </a:ext>
            </a:extLst>
          </p:cNvPr>
          <p:cNvSpPr/>
          <p:nvPr/>
        </p:nvSpPr>
        <p:spPr>
          <a:xfrm>
            <a:off x="233508" y="1276701"/>
            <a:ext cx="11617639" cy="4454581"/>
          </a:xfrm>
          <a:prstGeom prst="rect">
            <a:avLst/>
          </a:prstGeom>
          <a:solidFill>
            <a:srgbClr val="FFFFFF"/>
          </a:solidFill>
          <a:ln>
            <a:solidFill>
              <a:srgbClr val="DCE1EA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l" defTabSz="116128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>
              <a:defRPr/>
            </a:pP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C2E698-1B8F-C68B-DD72-B502467DA4EB}"/>
              </a:ext>
            </a:extLst>
          </p:cNvPr>
          <p:cNvSpPr txBox="1"/>
          <p:nvPr/>
        </p:nvSpPr>
        <p:spPr>
          <a:xfrm>
            <a:off x="372374" y="1633519"/>
            <a:ext cx="1113645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시연 흐름</a:t>
            </a:r>
            <a:endParaRPr lang="en-US" altLang="ko-KR" sz="1600" b="1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600" b="1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6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1. </a:t>
            </a:r>
            <a:r>
              <a:rPr lang="ko-KR" altLang="en-US" sz="16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로그인   </a:t>
            </a:r>
            <a:endParaRPr lang="en-US" altLang="ko-KR" sz="1600" b="1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600" b="1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6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2. </a:t>
            </a:r>
            <a:r>
              <a:rPr lang="ko-KR" altLang="en-US" sz="16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공지 등록   </a:t>
            </a:r>
            <a:endParaRPr lang="en-US" altLang="ko-KR" sz="1600" b="1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600" b="1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6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3. </a:t>
            </a:r>
            <a:r>
              <a:rPr lang="ko-KR" altLang="en-US" sz="16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관리자 검토 및 승인</a:t>
            </a:r>
            <a:r>
              <a:rPr lang="en-US" altLang="ko-KR" sz="16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6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반려 </a:t>
            </a:r>
            <a:endParaRPr lang="en-US" altLang="ko-KR" sz="1600" b="1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600" b="1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6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4. </a:t>
            </a:r>
            <a:r>
              <a:rPr lang="ko-KR" altLang="en-US" sz="16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공지 메일 발송 </a:t>
            </a:r>
            <a:r>
              <a:rPr lang="en-US" altLang="ko-KR" sz="16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+ Outlook</a:t>
            </a:r>
            <a:r>
              <a:rPr lang="ko-KR" altLang="en-US" sz="16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일정 등록  </a:t>
            </a:r>
            <a:endParaRPr lang="en-US" altLang="ko-KR" sz="1600" b="1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600" b="1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6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5.</a:t>
            </a:r>
            <a:r>
              <a:rPr lang="ko-KR" altLang="en-US" sz="16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공지</a:t>
            </a:r>
            <a:r>
              <a:rPr lang="en-US" altLang="ko-KR" sz="16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6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발송 히스토리 및 대시보드 통계 확인</a:t>
            </a:r>
            <a:endParaRPr lang="en-US" altLang="ko-KR" sz="1600" b="1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600" b="1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865E51-BB16-CD0A-74C9-DE62F38E4F56}"/>
              </a:ext>
            </a:extLst>
          </p:cNvPr>
          <p:cNvSpPr txBox="1"/>
          <p:nvPr/>
        </p:nvSpPr>
        <p:spPr>
          <a:xfrm>
            <a:off x="162560" y="6494790"/>
            <a:ext cx="13614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>
                <a:latin typeface="Noto Sans KR" panose="020B0200000000000000" pitchFamily="50" charset="-127"/>
                <a:ea typeface="Noto Sans KR" panose="020B0200000000000000" pitchFamily="50" charset="-127"/>
              </a:rPr>
              <a:t>공지관리 시스템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v1.0</a:t>
            </a:r>
            <a:endParaRPr lang="ko-KR" alt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F4E3183-D183-17AC-9B86-35551365F9C2}"/>
              </a:ext>
            </a:extLst>
          </p:cNvPr>
          <p:cNvGrpSpPr/>
          <p:nvPr/>
        </p:nvGrpSpPr>
        <p:grpSpPr>
          <a:xfrm>
            <a:off x="9164524" y="6510616"/>
            <a:ext cx="3027476" cy="281983"/>
            <a:chOff x="4568754" y="6212807"/>
            <a:chExt cx="3027476" cy="281983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91C13F62-54D1-4E7B-DA51-C5E60A0F6E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89645"/>
            <a:stretch>
              <a:fillRect/>
            </a:stretch>
          </p:blipFill>
          <p:spPr>
            <a:xfrm>
              <a:off x="4568754" y="6212807"/>
              <a:ext cx="303817" cy="281983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3410579-2932-F54B-23F2-4CB9E28D0FC6}"/>
                </a:ext>
              </a:extLst>
            </p:cNvPr>
            <p:cNvSpPr txBox="1"/>
            <p:nvPr/>
          </p:nvSpPr>
          <p:spPr>
            <a:xfrm>
              <a:off x="4823669" y="6228825"/>
              <a:ext cx="277256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SORIN INFORMATION TECHNOLOGY</a:t>
              </a:r>
              <a:endParaRPr lang="ko-KR" altLang="en-US" sz="11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68152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c1df8f4-4bd0-47b5-a9b8-8f61fb47fe07}" enabled="1" method="Privileged" siteId="{2002127d-ecd5-424c-b995-a6f750055ec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352</TotalTime>
  <Words>281</Words>
  <Application>Microsoft Office PowerPoint</Application>
  <PresentationFormat>와이드스크린</PresentationFormat>
  <Paragraphs>76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Noto Sans KR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윤식 함</dc:creator>
  <cp:lastModifiedBy>함윤식[Yoonsic Ham]</cp:lastModifiedBy>
  <cp:revision>22</cp:revision>
  <dcterms:created xsi:type="dcterms:W3CDTF">2026-01-26T13:57:38Z</dcterms:created>
  <dcterms:modified xsi:type="dcterms:W3CDTF">2026-02-01T23:25:17Z</dcterms:modified>
</cp:coreProperties>
</file>